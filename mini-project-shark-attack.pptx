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Raleway"/>
      <p:regular r:id="rId22"/>
      <p:bold r:id="rId23"/>
      <p:italic r:id="rId24"/>
      <p:boldItalic r:id="rId25"/>
    </p:embeddedFont>
    <p:embeddedFont>
      <p:font typeface="Roboto"/>
      <p:regular r:id="rId26"/>
      <p:bold r:id="rId27"/>
      <p:italic r:id="rId28"/>
      <p:boldItalic r:id="rId29"/>
    </p:embeddedFont>
    <p:embeddedFont>
      <p:font typeface="Lato"/>
      <p:regular r:id="rId30"/>
      <p:bold r:id="rId31"/>
      <p:italic r:id="rId32"/>
      <p:boldItalic r:id="rId33"/>
    </p:embeddedFont>
    <p:embeddedFont>
      <p:font typeface="Roboto Mono"/>
      <p:regular r:id="rId34"/>
      <p:bold r:id="rId35"/>
      <p:italic r:id="rId36"/>
      <p:boldItalic r:id="rId37"/>
    </p:embeddedFont>
    <p:embeddedFont>
      <p:font typeface="Open Sans"/>
      <p:regular r:id="rId38"/>
      <p:bold r:id="rId39"/>
      <p:italic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66">
          <p15:clr>
            <a:srgbClr val="747775"/>
          </p15:clr>
        </p15:guide>
        <p15:guide id="2" orient="horz" pos="17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66" orient="horz"/>
        <p:guide pos="170"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OpenSans-italic.fntdata"/><Relationship Id="rId20" Type="http://schemas.openxmlformats.org/officeDocument/2006/relationships/slide" Target="slides/slide15.xml"/><Relationship Id="rId41" Type="http://schemas.openxmlformats.org/officeDocument/2006/relationships/font" Target="fonts/OpenSans-boldItalic.fntdata"/><Relationship Id="rId22" Type="http://schemas.openxmlformats.org/officeDocument/2006/relationships/font" Target="fonts/Raleway-regular.fntdata"/><Relationship Id="rId21" Type="http://schemas.openxmlformats.org/officeDocument/2006/relationships/slide" Target="slides/slide16.xml"/><Relationship Id="rId24" Type="http://schemas.openxmlformats.org/officeDocument/2006/relationships/font" Target="fonts/Raleway-italic.fntdata"/><Relationship Id="rId23" Type="http://schemas.openxmlformats.org/officeDocument/2006/relationships/font" Target="fonts/Raleway-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regular.fntdata"/><Relationship Id="rId25" Type="http://schemas.openxmlformats.org/officeDocument/2006/relationships/font" Target="fonts/Raleway-boldItalic.fntdata"/><Relationship Id="rId28" Type="http://schemas.openxmlformats.org/officeDocument/2006/relationships/font" Target="fonts/Roboto-italic.fntdata"/><Relationship Id="rId27" Type="http://schemas.openxmlformats.org/officeDocument/2006/relationships/font" Target="fonts/Roboto-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Lato-bold.fntdata"/><Relationship Id="rId30" Type="http://schemas.openxmlformats.org/officeDocument/2006/relationships/font" Target="fonts/Lato-regular.fntdata"/><Relationship Id="rId11" Type="http://schemas.openxmlformats.org/officeDocument/2006/relationships/slide" Target="slides/slide6.xml"/><Relationship Id="rId33" Type="http://schemas.openxmlformats.org/officeDocument/2006/relationships/font" Target="fonts/Lato-boldItalic.fntdata"/><Relationship Id="rId10" Type="http://schemas.openxmlformats.org/officeDocument/2006/relationships/slide" Target="slides/slide5.xml"/><Relationship Id="rId32" Type="http://schemas.openxmlformats.org/officeDocument/2006/relationships/font" Target="fonts/Lato-italic.fntdata"/><Relationship Id="rId13" Type="http://schemas.openxmlformats.org/officeDocument/2006/relationships/slide" Target="slides/slide8.xml"/><Relationship Id="rId35" Type="http://schemas.openxmlformats.org/officeDocument/2006/relationships/font" Target="fonts/RobotoMono-bold.fntdata"/><Relationship Id="rId12" Type="http://schemas.openxmlformats.org/officeDocument/2006/relationships/slide" Target="slides/slide7.xml"/><Relationship Id="rId34" Type="http://schemas.openxmlformats.org/officeDocument/2006/relationships/font" Target="fonts/RobotoMono-regular.fntdata"/><Relationship Id="rId15" Type="http://schemas.openxmlformats.org/officeDocument/2006/relationships/slide" Target="slides/slide10.xml"/><Relationship Id="rId37" Type="http://schemas.openxmlformats.org/officeDocument/2006/relationships/font" Target="fonts/RobotoMono-boldItalic.fntdata"/><Relationship Id="rId14" Type="http://schemas.openxmlformats.org/officeDocument/2006/relationships/slide" Target="slides/slide9.xml"/><Relationship Id="rId36" Type="http://schemas.openxmlformats.org/officeDocument/2006/relationships/font" Target="fonts/RobotoMono-italic.fntdata"/><Relationship Id="rId17" Type="http://schemas.openxmlformats.org/officeDocument/2006/relationships/slide" Target="slides/slide12.xml"/><Relationship Id="rId39" Type="http://schemas.openxmlformats.org/officeDocument/2006/relationships/font" Target="fonts/OpenSans-bold.fntdata"/><Relationship Id="rId16" Type="http://schemas.openxmlformats.org/officeDocument/2006/relationships/slide" Target="slides/slide11.xml"/><Relationship Id="rId38" Type="http://schemas.openxmlformats.org/officeDocument/2006/relationships/font" Target="fonts/OpenSans-regular.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c6bd3be1b6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c6bd3be1b6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609600" rtl="0" algn="l">
              <a:lnSpc>
                <a:spcPct val="140000"/>
              </a:lnSpc>
              <a:spcBef>
                <a:spcPts val="1200"/>
              </a:spcBef>
              <a:spcAft>
                <a:spcPts val="0"/>
              </a:spcAft>
              <a:buClr>
                <a:schemeClr val="dk1"/>
              </a:buClr>
              <a:buSzPts val="1200"/>
              <a:buFont typeface="Open Sans"/>
              <a:buChar char="●"/>
            </a:pPr>
            <a:r>
              <a:rPr lang="es" sz="1200">
                <a:solidFill>
                  <a:schemeClr val="dk1"/>
                </a:solidFill>
                <a:highlight>
                  <a:srgbClr val="FFFFFF"/>
                </a:highlight>
                <a:latin typeface="Open Sans"/>
                <a:ea typeface="Open Sans"/>
                <a:cs typeface="Open Sans"/>
                <a:sym typeface="Open Sans"/>
              </a:rPr>
              <a:t>Briefly describe the original dataset and the hypothesis you've formulated.</a:t>
            </a:r>
            <a:endParaRPr sz="1200">
              <a:solidFill>
                <a:schemeClr val="dk1"/>
              </a:solidFill>
              <a:highlight>
                <a:srgbClr val="FFFFFF"/>
              </a:highlight>
              <a:latin typeface="Open Sans"/>
              <a:ea typeface="Open Sans"/>
              <a:cs typeface="Open Sans"/>
              <a:sym typeface="Open Sans"/>
            </a:endParaRPr>
          </a:p>
          <a:p>
            <a:pPr indent="-304800" lvl="0" marL="609600" rtl="0" algn="l">
              <a:lnSpc>
                <a:spcPct val="140000"/>
              </a:lnSpc>
              <a:spcBef>
                <a:spcPts val="0"/>
              </a:spcBef>
              <a:spcAft>
                <a:spcPts val="0"/>
              </a:spcAft>
              <a:buClr>
                <a:schemeClr val="dk1"/>
              </a:buClr>
              <a:buSzPts val="1200"/>
              <a:buFont typeface="Open Sans"/>
              <a:buChar char="●"/>
            </a:pPr>
            <a:r>
              <a:t/>
            </a:r>
            <a:endParaRPr sz="1200">
              <a:solidFill>
                <a:schemeClr val="dk1"/>
              </a:solidFill>
              <a:highlight>
                <a:srgbClr val="FFFFFF"/>
              </a:highlight>
              <a:latin typeface="Open Sans"/>
              <a:ea typeface="Open Sans"/>
              <a:cs typeface="Open Sans"/>
              <a:sym typeface="Open Sans"/>
            </a:endParaRPr>
          </a:p>
          <a:p>
            <a:pPr indent="0" lvl="0" marL="457200" rtl="0" algn="l">
              <a:spcBef>
                <a:spcPts val="1200"/>
              </a:spcBef>
              <a:spcAft>
                <a:spcPts val="0"/>
              </a:spcAft>
              <a:buNone/>
            </a:pPr>
            <a:r>
              <a:t/>
            </a:r>
            <a:endParaRPr sz="1200">
              <a:solidFill>
                <a:schemeClr val="dk1"/>
              </a:solidFill>
              <a:highlight>
                <a:srgbClr val="FFFFFF"/>
              </a:highlight>
              <a:latin typeface="Open Sans"/>
              <a:ea typeface="Open Sans"/>
              <a:cs typeface="Open Sans"/>
              <a:sym typeface="Open Sans"/>
            </a:endParaRPr>
          </a:p>
          <a:p>
            <a:pPr indent="-298450" lvl="0" marL="457200" rtl="0" algn="l">
              <a:spcBef>
                <a:spcPts val="0"/>
              </a:spcBef>
              <a:spcAft>
                <a:spcPts val="0"/>
              </a:spcAft>
              <a:buSzPts val="1100"/>
              <a:buAutoNum type="arabicPeriod"/>
            </a:pPr>
            <a:r>
              <a:rPr lang="es"/>
              <a:t>Check the month with + shark attack. </a:t>
            </a:r>
            <a:endParaRPr/>
          </a:p>
          <a:p>
            <a:pPr indent="-298450" lvl="0" marL="457200" rtl="0" algn="l">
              <a:spcBef>
                <a:spcPts val="0"/>
              </a:spcBef>
              <a:spcAft>
                <a:spcPts val="0"/>
              </a:spcAft>
              <a:buSzPts val="1100"/>
              <a:buAutoNum type="arabicPeriod"/>
            </a:pPr>
            <a:r>
              <a:rPr lang="es"/>
              <a:t>Check the country in the month with + shark attack. </a:t>
            </a:r>
            <a:endParaRPr/>
          </a:p>
          <a:p>
            <a:pPr indent="-298450" lvl="0" marL="457200" rtl="0" algn="l">
              <a:spcBef>
                <a:spcPts val="0"/>
              </a:spcBef>
              <a:spcAft>
                <a:spcPts val="0"/>
              </a:spcAft>
              <a:buSzPts val="1100"/>
              <a:buAutoNum type="arabicPeriod"/>
            </a:pPr>
            <a:r>
              <a:rPr lang="es"/>
              <a:t>Correlate the country with the moth, is it in summer?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ae1824e4fbb4a1c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ae1824e4fbb4a1c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609600" rtl="0" algn="l">
              <a:lnSpc>
                <a:spcPct val="140000"/>
              </a:lnSpc>
              <a:spcBef>
                <a:spcPts val="1200"/>
              </a:spcBef>
              <a:spcAft>
                <a:spcPts val="0"/>
              </a:spcAft>
              <a:buClr>
                <a:schemeClr val="dk1"/>
              </a:buClr>
              <a:buSzPts val="1200"/>
              <a:buFont typeface="Open Sans"/>
              <a:buChar char="●"/>
            </a:pPr>
            <a:r>
              <a:rPr lang="es" sz="1200">
                <a:solidFill>
                  <a:schemeClr val="dk1"/>
                </a:solidFill>
                <a:highlight>
                  <a:srgbClr val="FFFFFF"/>
                </a:highlight>
                <a:latin typeface="Open Sans"/>
                <a:ea typeface="Open Sans"/>
                <a:cs typeface="Open Sans"/>
                <a:sym typeface="Open Sans"/>
              </a:rPr>
              <a:t>Explain the structure and process of your data cleaning and analysis.</a:t>
            </a:r>
            <a:endParaRPr sz="1200">
              <a:solidFill>
                <a:schemeClr val="dk1"/>
              </a:solidFill>
              <a:highlight>
                <a:srgbClr val="FFFFFF"/>
              </a:highlight>
              <a:latin typeface="Open Sans"/>
              <a:ea typeface="Open Sans"/>
              <a:cs typeface="Open Sans"/>
              <a:sym typeface="Open Sans"/>
            </a:endParaRPr>
          </a:p>
          <a:p>
            <a:pPr indent="-304800" lvl="0" marL="609600" rtl="0" algn="l">
              <a:lnSpc>
                <a:spcPct val="140000"/>
              </a:lnSpc>
              <a:spcBef>
                <a:spcPts val="0"/>
              </a:spcBef>
              <a:spcAft>
                <a:spcPts val="0"/>
              </a:spcAft>
              <a:buClr>
                <a:schemeClr val="dk1"/>
              </a:buClr>
              <a:buSzPts val="1200"/>
              <a:buFont typeface="Open Sans"/>
              <a:buChar char="●"/>
            </a:pPr>
            <a:r>
              <a:rPr lang="es" sz="1200">
                <a:solidFill>
                  <a:schemeClr val="dk1"/>
                </a:solidFill>
                <a:highlight>
                  <a:srgbClr val="FFFFFF"/>
                </a:highlight>
                <a:latin typeface="Open Sans"/>
                <a:ea typeface="Open Sans"/>
                <a:cs typeface="Open Sans"/>
                <a:sym typeface="Open Sans"/>
              </a:rPr>
              <a:t>Highlight any unique data cleaning techniques or methods you've employed. → </a:t>
            </a:r>
            <a:endParaRPr sz="1200">
              <a:solidFill>
                <a:schemeClr val="dk1"/>
              </a:solidFill>
              <a:highlight>
                <a:srgbClr val="FFFFFF"/>
              </a:highlight>
              <a:latin typeface="Open Sans"/>
              <a:ea typeface="Open Sans"/>
              <a:cs typeface="Open Sans"/>
              <a:sym typeface="Open Sans"/>
            </a:endParaRPr>
          </a:p>
          <a:p>
            <a:pPr indent="-298450" lvl="1" marL="914400" rtl="0" algn="l">
              <a:lnSpc>
                <a:spcPct val="140000"/>
              </a:lnSpc>
              <a:spcBef>
                <a:spcPts val="0"/>
              </a:spcBef>
              <a:spcAft>
                <a:spcPts val="0"/>
              </a:spcAft>
              <a:buClr>
                <a:schemeClr val="dk1"/>
              </a:buClr>
              <a:buSzPts val="1100"/>
              <a:buAutoNum type="alphaLcPeriod"/>
            </a:pPr>
            <a:r>
              <a:rPr lang="es" sz="1200">
                <a:solidFill>
                  <a:schemeClr val="dk1"/>
                </a:solidFill>
                <a:highlight>
                  <a:srgbClr val="FFFFFF"/>
                </a:highlight>
                <a:latin typeface="Open Sans"/>
                <a:ea typeface="Open Sans"/>
                <a:cs typeface="Open Sans"/>
                <a:sym typeface="Open Sans"/>
              </a:rPr>
              <a:t>date: convert it timestamp format in a new clean date column, creating new column with months. </a:t>
            </a:r>
            <a:endParaRPr sz="1200">
              <a:solidFill>
                <a:schemeClr val="dk1"/>
              </a:solidFill>
              <a:highlight>
                <a:srgbClr val="FFFFFF"/>
              </a:highlight>
              <a:latin typeface="Open Sans"/>
              <a:ea typeface="Open Sans"/>
              <a:cs typeface="Open Sans"/>
              <a:sym typeface="Open Sans"/>
            </a:endParaRPr>
          </a:p>
          <a:p>
            <a:pPr indent="-298450" lvl="1" marL="914400" rtl="0" algn="l">
              <a:lnSpc>
                <a:spcPct val="140000"/>
              </a:lnSpc>
              <a:spcBef>
                <a:spcPts val="0"/>
              </a:spcBef>
              <a:spcAft>
                <a:spcPts val="0"/>
              </a:spcAft>
              <a:buClr>
                <a:schemeClr val="dk1"/>
              </a:buClr>
              <a:buSzPts val="1100"/>
              <a:buAutoNum type="alphaLcPeriod"/>
            </a:pPr>
            <a:r>
              <a:rPr lang="es" sz="1200">
                <a:solidFill>
                  <a:schemeClr val="dk1"/>
                </a:solidFill>
                <a:highlight>
                  <a:srgbClr val="FFFFFF"/>
                </a:highlight>
                <a:latin typeface="Open Sans"/>
                <a:ea typeface="Open Sans"/>
                <a:cs typeface="Open Sans"/>
                <a:sym typeface="Open Sans"/>
              </a:rPr>
              <a:t>uppercase, dictionary and creating new column with correct data. </a:t>
            </a:r>
            <a:endParaRPr sz="1200">
              <a:solidFill>
                <a:schemeClr val="dk1"/>
              </a:solidFill>
              <a:highlight>
                <a:srgbClr val="FFFFFF"/>
              </a:highlight>
              <a:latin typeface="Open Sans"/>
              <a:ea typeface="Open Sans"/>
              <a:cs typeface="Open Sans"/>
              <a:sym typeface="Open Sans"/>
            </a:endParaRPr>
          </a:p>
          <a:p>
            <a:pPr indent="0" lvl="0" marL="457200" rtl="0" algn="l">
              <a:spcBef>
                <a:spcPts val="1200"/>
              </a:spcBef>
              <a:spcAft>
                <a:spcPts val="0"/>
              </a:spcAft>
              <a:buNone/>
            </a:pPr>
            <a:r>
              <a:t/>
            </a:r>
            <a:endParaRPr sz="1200">
              <a:solidFill>
                <a:schemeClr val="dk1"/>
              </a:solidFill>
              <a:highlight>
                <a:srgbClr val="FFFFFF"/>
              </a:highlight>
              <a:latin typeface="Open Sans"/>
              <a:ea typeface="Open Sans"/>
              <a:cs typeface="Open Sans"/>
              <a:sym typeface="Open Sans"/>
            </a:endParaRPr>
          </a:p>
          <a:p>
            <a:pPr indent="-298450" lvl="0" marL="457200" rtl="0" algn="l">
              <a:spcBef>
                <a:spcPts val="0"/>
              </a:spcBef>
              <a:spcAft>
                <a:spcPts val="0"/>
              </a:spcAft>
              <a:buSzPts val="1100"/>
              <a:buAutoNum type="arabicPeriod"/>
            </a:pPr>
            <a:r>
              <a:rPr lang="es"/>
              <a:t>Check the month with + shark attack. </a:t>
            </a:r>
            <a:endParaRPr/>
          </a:p>
          <a:p>
            <a:pPr indent="-298450" lvl="0" marL="457200" rtl="0" algn="l">
              <a:spcBef>
                <a:spcPts val="0"/>
              </a:spcBef>
              <a:spcAft>
                <a:spcPts val="0"/>
              </a:spcAft>
              <a:buSzPts val="1100"/>
              <a:buAutoNum type="arabicPeriod"/>
            </a:pPr>
            <a:r>
              <a:rPr lang="es"/>
              <a:t>Check the country in the month with + shark attack. </a:t>
            </a:r>
            <a:endParaRPr/>
          </a:p>
          <a:p>
            <a:pPr indent="-298450" lvl="0" marL="457200" rtl="0" algn="l">
              <a:spcBef>
                <a:spcPts val="0"/>
              </a:spcBef>
              <a:spcAft>
                <a:spcPts val="0"/>
              </a:spcAft>
              <a:buSzPts val="1100"/>
              <a:buAutoNum type="arabicPeriod"/>
            </a:pPr>
            <a:r>
              <a:rPr lang="es"/>
              <a:t>Correlate the country with the moth, is it in summer?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c6541b5645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c6541b5645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609600" rtl="0" algn="l">
              <a:lnSpc>
                <a:spcPct val="140000"/>
              </a:lnSpc>
              <a:spcBef>
                <a:spcPts val="1200"/>
              </a:spcBef>
              <a:spcAft>
                <a:spcPts val="0"/>
              </a:spcAft>
              <a:buClr>
                <a:schemeClr val="dk1"/>
              </a:buClr>
              <a:buSzPts val="1200"/>
              <a:buFont typeface="Open Sans"/>
              <a:buChar char="●"/>
            </a:pPr>
            <a:r>
              <a:rPr lang="es" sz="1200">
                <a:solidFill>
                  <a:schemeClr val="dk1"/>
                </a:solidFill>
                <a:highlight>
                  <a:srgbClr val="FFFFFF"/>
                </a:highlight>
                <a:latin typeface="Open Sans"/>
                <a:ea typeface="Open Sans"/>
                <a:cs typeface="Open Sans"/>
                <a:sym typeface="Open Sans"/>
              </a:rPr>
              <a:t>Discuss the significant data cleaning challenges you encountered (missing data, duplicates, formatting issues, etc.).</a:t>
            </a:r>
            <a:endParaRPr sz="1200">
              <a:solidFill>
                <a:schemeClr val="dk1"/>
              </a:solidFill>
              <a:highlight>
                <a:srgbClr val="FFFFFF"/>
              </a:highlight>
              <a:latin typeface="Open Sans"/>
              <a:ea typeface="Open Sans"/>
              <a:cs typeface="Open Sans"/>
              <a:sym typeface="Open Sans"/>
            </a:endParaRPr>
          </a:p>
          <a:p>
            <a:pPr indent="-304800" lvl="0" marL="609600" rtl="0" algn="l">
              <a:lnSpc>
                <a:spcPct val="140000"/>
              </a:lnSpc>
              <a:spcBef>
                <a:spcPts val="0"/>
              </a:spcBef>
              <a:spcAft>
                <a:spcPts val="0"/>
              </a:spcAft>
              <a:buClr>
                <a:schemeClr val="dk1"/>
              </a:buClr>
              <a:buSzPts val="1200"/>
              <a:buFont typeface="Open Sans"/>
              <a:buChar char="●"/>
            </a:pPr>
            <a:r>
              <a:rPr lang="es" sz="1200">
                <a:solidFill>
                  <a:schemeClr val="dk1"/>
                </a:solidFill>
                <a:highlight>
                  <a:srgbClr val="FFFFFF"/>
                </a:highlight>
                <a:latin typeface="Open Sans"/>
                <a:ea typeface="Open Sans"/>
                <a:cs typeface="Open Sans"/>
                <a:sym typeface="Open Sans"/>
              </a:rPr>
              <a:t>Explain how you resolved these challenges.</a:t>
            </a:r>
            <a:endParaRPr sz="1200">
              <a:solidFill>
                <a:schemeClr val="dk1"/>
              </a:solidFill>
              <a:highlight>
                <a:srgbClr val="FFFFFF"/>
              </a:highlight>
              <a:latin typeface="Open Sans"/>
              <a:ea typeface="Open Sans"/>
              <a:cs typeface="Open Sans"/>
              <a:sym typeface="Open Sans"/>
            </a:endParaRPr>
          </a:p>
          <a:p>
            <a:pPr indent="0" lvl="0" marL="0" rtl="0" algn="l">
              <a:spcBef>
                <a:spcPts val="1200"/>
              </a:spcBef>
              <a:spcAft>
                <a:spcPts val="0"/>
              </a:spcAft>
              <a:buNone/>
            </a:pPr>
            <a:r>
              <a:t/>
            </a:r>
            <a:endParaRPr/>
          </a:p>
          <a:p>
            <a:pPr indent="0" lvl="0" marL="0" rtl="0" algn="l">
              <a:spcBef>
                <a:spcPts val="0"/>
              </a:spcBef>
              <a:spcAft>
                <a:spcPts val="0"/>
              </a:spcAft>
              <a:buNone/>
            </a:pPr>
            <a:r>
              <a:rPr lang="es"/>
              <a:t>+screenshots from database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c6bd3be1b6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c6bd3be1b6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609600" rtl="0" algn="l">
              <a:lnSpc>
                <a:spcPct val="140000"/>
              </a:lnSpc>
              <a:spcBef>
                <a:spcPts val="1200"/>
              </a:spcBef>
              <a:spcAft>
                <a:spcPts val="0"/>
              </a:spcAft>
              <a:buClr>
                <a:schemeClr val="dk1"/>
              </a:buClr>
              <a:buSzPts val="1200"/>
              <a:buFont typeface="Open Sans"/>
              <a:buChar char="●"/>
            </a:pPr>
            <a:r>
              <a:rPr lang="es" sz="1200">
                <a:solidFill>
                  <a:schemeClr val="dk1"/>
                </a:solidFill>
                <a:highlight>
                  <a:srgbClr val="FFFFFF"/>
                </a:highlight>
                <a:latin typeface="Open Sans"/>
                <a:ea typeface="Open Sans"/>
                <a:cs typeface="Open Sans"/>
                <a:sym typeface="Open Sans"/>
              </a:rPr>
              <a:t>Discuss the significant data cleaning challenges you encountered (missing data, duplicates, formatting issues, etc.).</a:t>
            </a:r>
            <a:endParaRPr sz="1200">
              <a:solidFill>
                <a:schemeClr val="dk1"/>
              </a:solidFill>
              <a:highlight>
                <a:srgbClr val="FFFFFF"/>
              </a:highlight>
              <a:latin typeface="Open Sans"/>
              <a:ea typeface="Open Sans"/>
              <a:cs typeface="Open Sans"/>
              <a:sym typeface="Open Sans"/>
            </a:endParaRPr>
          </a:p>
          <a:p>
            <a:pPr indent="-304800" lvl="0" marL="609600" rtl="0" algn="l">
              <a:lnSpc>
                <a:spcPct val="140000"/>
              </a:lnSpc>
              <a:spcBef>
                <a:spcPts val="0"/>
              </a:spcBef>
              <a:spcAft>
                <a:spcPts val="0"/>
              </a:spcAft>
              <a:buClr>
                <a:schemeClr val="dk1"/>
              </a:buClr>
              <a:buSzPts val="1200"/>
              <a:buFont typeface="Open Sans"/>
              <a:buChar char="●"/>
            </a:pPr>
            <a:r>
              <a:rPr lang="es" sz="1200">
                <a:solidFill>
                  <a:schemeClr val="dk1"/>
                </a:solidFill>
                <a:highlight>
                  <a:srgbClr val="FFFFFF"/>
                </a:highlight>
                <a:latin typeface="Open Sans"/>
                <a:ea typeface="Open Sans"/>
                <a:cs typeface="Open Sans"/>
                <a:sym typeface="Open Sans"/>
              </a:rPr>
              <a:t>Explain how you resolved these challenges.</a:t>
            </a:r>
            <a:endParaRPr sz="1200">
              <a:solidFill>
                <a:schemeClr val="dk1"/>
              </a:solidFill>
              <a:highlight>
                <a:srgbClr val="FFFFFF"/>
              </a:highlight>
              <a:latin typeface="Open Sans"/>
              <a:ea typeface="Open Sans"/>
              <a:cs typeface="Open Sans"/>
              <a:sym typeface="Open Sans"/>
            </a:endParaRPr>
          </a:p>
          <a:p>
            <a:pPr indent="0" lvl="0" marL="0" rtl="0" algn="l">
              <a:spcBef>
                <a:spcPts val="1200"/>
              </a:spcBef>
              <a:spcAft>
                <a:spcPts val="0"/>
              </a:spcAft>
              <a:buNone/>
            </a:pPr>
            <a:r>
              <a:rPr lang="es">
                <a:solidFill>
                  <a:schemeClr val="dk1"/>
                </a:solidFill>
              </a:rPr>
              <a:t>+screenshots from database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c6541b5645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c6541b5645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609600" rtl="0" algn="l">
              <a:lnSpc>
                <a:spcPct val="140000"/>
              </a:lnSpc>
              <a:spcBef>
                <a:spcPts val="1200"/>
              </a:spcBef>
              <a:spcAft>
                <a:spcPts val="0"/>
              </a:spcAft>
              <a:buClr>
                <a:schemeClr val="dk1"/>
              </a:buClr>
              <a:buSzPts val="1200"/>
              <a:buFont typeface="Open Sans"/>
              <a:buChar char="●"/>
            </a:pPr>
            <a:r>
              <a:rPr lang="es" sz="1200">
                <a:solidFill>
                  <a:schemeClr val="dk1"/>
                </a:solidFill>
                <a:highlight>
                  <a:srgbClr val="FFFFFF"/>
                </a:highlight>
                <a:latin typeface="Open Sans"/>
                <a:ea typeface="Open Sans"/>
                <a:cs typeface="Open Sans"/>
                <a:sym typeface="Open Sans"/>
              </a:rPr>
              <a:t>Discuss the exploratory data analysis methods you used.</a:t>
            </a:r>
            <a:endParaRPr sz="1200">
              <a:solidFill>
                <a:schemeClr val="dk1"/>
              </a:solidFill>
              <a:highlight>
                <a:srgbClr val="FFFFFF"/>
              </a:highlight>
              <a:latin typeface="Open Sans"/>
              <a:ea typeface="Open Sans"/>
              <a:cs typeface="Open Sans"/>
              <a:sym typeface="Open Sans"/>
            </a:endParaRPr>
          </a:p>
          <a:p>
            <a:pPr indent="-304800" lvl="0" marL="609600" rtl="0" algn="l">
              <a:lnSpc>
                <a:spcPct val="140000"/>
              </a:lnSpc>
              <a:spcBef>
                <a:spcPts val="0"/>
              </a:spcBef>
              <a:spcAft>
                <a:spcPts val="0"/>
              </a:spcAft>
              <a:buClr>
                <a:schemeClr val="dk1"/>
              </a:buClr>
              <a:buSzPts val="1200"/>
              <a:buFont typeface="Open Sans"/>
              <a:buChar char="●"/>
            </a:pPr>
            <a:r>
              <a:rPr lang="es" sz="1200">
                <a:solidFill>
                  <a:schemeClr val="dk1"/>
                </a:solidFill>
                <a:highlight>
                  <a:srgbClr val="FFFFFF"/>
                </a:highlight>
                <a:latin typeface="Open Sans"/>
                <a:ea typeface="Open Sans"/>
                <a:cs typeface="Open Sans"/>
                <a:sym typeface="Open Sans"/>
              </a:rPr>
              <a:t>Share insights and interesting patterns you found.</a:t>
            </a:r>
            <a:endParaRPr sz="1200">
              <a:solidFill>
                <a:schemeClr val="dk1"/>
              </a:solidFill>
              <a:highlight>
                <a:srgbClr val="FFFFFF"/>
              </a:highlight>
              <a:latin typeface="Open Sans"/>
              <a:ea typeface="Open Sans"/>
              <a:cs typeface="Open Sans"/>
              <a:sym typeface="Open Sans"/>
            </a:endParaRPr>
          </a:p>
          <a:p>
            <a:pPr indent="-304800" lvl="0" marL="457200" rtl="0" algn="l">
              <a:lnSpc>
                <a:spcPct val="140000"/>
              </a:lnSpc>
              <a:spcBef>
                <a:spcPts val="0"/>
              </a:spcBef>
              <a:spcAft>
                <a:spcPts val="0"/>
              </a:spcAft>
              <a:buClr>
                <a:schemeClr val="dk1"/>
              </a:buClr>
              <a:buSzPts val="1200"/>
              <a:buFont typeface="Open Sans"/>
              <a:buChar char="●"/>
            </a:pPr>
            <a:r>
              <a:rPr lang="es" sz="1200">
                <a:solidFill>
                  <a:schemeClr val="dk1"/>
                </a:solidFill>
                <a:highlight>
                  <a:srgbClr val="FFFFFF"/>
                </a:highlight>
                <a:latin typeface="Open Sans"/>
                <a:ea typeface="Open Sans"/>
                <a:cs typeface="Open Sans"/>
                <a:sym typeface="Open Sans"/>
              </a:rPr>
              <a:t>Structure the data to make it suitable for analysis (e.g., create new fields, group data, create pivot tables).</a:t>
            </a:r>
            <a:endParaRPr sz="1200">
              <a:solidFill>
                <a:schemeClr val="dk1"/>
              </a:solidFill>
              <a:highlight>
                <a:srgbClr val="FFFFFF"/>
              </a:highlight>
              <a:latin typeface="Open Sans"/>
              <a:ea typeface="Open Sans"/>
              <a:cs typeface="Open Sans"/>
              <a:sym typeface="Open Sans"/>
            </a:endParaRPr>
          </a:p>
          <a:p>
            <a:pPr indent="-304800" lvl="0" marL="457200" rtl="0" algn="l">
              <a:lnSpc>
                <a:spcPct val="140000"/>
              </a:lnSpc>
              <a:spcBef>
                <a:spcPts val="0"/>
              </a:spcBef>
              <a:spcAft>
                <a:spcPts val="0"/>
              </a:spcAft>
              <a:buClr>
                <a:schemeClr val="dk1"/>
              </a:buClr>
              <a:buSzPts val="1200"/>
              <a:buFont typeface="Open Sans"/>
              <a:buChar char="●"/>
            </a:pPr>
            <a:r>
              <a:rPr lang="es" sz="1200">
                <a:solidFill>
                  <a:schemeClr val="dk1"/>
                </a:solidFill>
                <a:highlight>
                  <a:srgbClr val="FFFFFF"/>
                </a:highlight>
                <a:latin typeface="Open Sans"/>
                <a:ea typeface="Open Sans"/>
                <a:cs typeface="Open Sans"/>
                <a:sym typeface="Open Sans"/>
              </a:rPr>
              <a:t>Use aggregation and filtering techniques to refine the dataset and start testing your hypotheses.</a:t>
            </a:r>
            <a:endParaRPr sz="1200">
              <a:solidFill>
                <a:schemeClr val="dk1"/>
              </a:solidFill>
              <a:highlight>
                <a:srgbClr val="FFFFFF"/>
              </a:highlight>
              <a:latin typeface="Open Sans"/>
              <a:ea typeface="Open Sans"/>
              <a:cs typeface="Open Sans"/>
              <a:sym typeface="Open Sans"/>
            </a:endParaRPr>
          </a:p>
          <a:p>
            <a:pPr indent="0" lvl="0" marL="0" rtl="0" algn="l">
              <a:lnSpc>
                <a:spcPct val="152727"/>
              </a:lnSpc>
              <a:spcBef>
                <a:spcPts val="1900"/>
              </a:spcBef>
              <a:spcAft>
                <a:spcPts val="0"/>
              </a:spcAft>
              <a:buNone/>
            </a:pPr>
            <a:r>
              <a:rPr b="1" lang="es">
                <a:solidFill>
                  <a:schemeClr val="dk1"/>
                </a:solidFill>
                <a:highlight>
                  <a:srgbClr val="FFFFFF"/>
                </a:highlight>
                <a:latin typeface="Open Sans"/>
                <a:ea typeface="Open Sans"/>
                <a:cs typeface="Open Sans"/>
                <a:sym typeface="Open Sans"/>
              </a:rPr>
              <a:t>Research Team Key Tasks &amp; Topics:</a:t>
            </a:r>
            <a:endParaRPr b="1">
              <a:solidFill>
                <a:schemeClr val="dk1"/>
              </a:solidFill>
              <a:highlight>
                <a:srgbClr val="FFFFFF"/>
              </a:highlight>
              <a:latin typeface="Open Sans"/>
              <a:ea typeface="Open Sans"/>
              <a:cs typeface="Open Sans"/>
              <a:sym typeface="Open Sans"/>
            </a:endParaRPr>
          </a:p>
          <a:p>
            <a:pPr indent="-304800" lvl="0" marL="609600" rtl="0" algn="l">
              <a:lnSpc>
                <a:spcPct val="140000"/>
              </a:lnSpc>
              <a:spcBef>
                <a:spcPts val="800"/>
              </a:spcBef>
              <a:spcAft>
                <a:spcPts val="0"/>
              </a:spcAft>
              <a:buClr>
                <a:schemeClr val="dk1"/>
              </a:buClr>
              <a:buSzPts val="1200"/>
              <a:buFont typeface="Open Sans"/>
              <a:buChar char="●"/>
            </a:pPr>
            <a:r>
              <a:rPr lang="es" sz="1200">
                <a:solidFill>
                  <a:schemeClr val="dk1"/>
                </a:solidFill>
                <a:highlight>
                  <a:srgbClr val="FFFFFF"/>
                </a:highlight>
                <a:latin typeface="Open Sans"/>
                <a:ea typeface="Open Sans"/>
                <a:cs typeface="Open Sans"/>
                <a:sym typeface="Open Sans"/>
              </a:rPr>
              <a:t>Read the self-guided material on Exploratory Data Analysis (EDA), focusing on using statistical measures and visualization (histograms, box plots, scatter plots, etc.).</a:t>
            </a:r>
            <a:endParaRPr sz="1200">
              <a:solidFill>
                <a:schemeClr val="dk1"/>
              </a:solidFill>
              <a:highlight>
                <a:srgbClr val="FFFFFF"/>
              </a:highlight>
              <a:latin typeface="Open Sans"/>
              <a:ea typeface="Open Sans"/>
              <a:cs typeface="Open Sans"/>
              <a:sym typeface="Open Sans"/>
            </a:endParaRPr>
          </a:p>
          <a:p>
            <a:pPr indent="-304800" lvl="0" marL="609600" rtl="0" algn="l">
              <a:lnSpc>
                <a:spcPct val="140000"/>
              </a:lnSpc>
              <a:spcBef>
                <a:spcPts val="0"/>
              </a:spcBef>
              <a:spcAft>
                <a:spcPts val="0"/>
              </a:spcAft>
              <a:buClr>
                <a:schemeClr val="dk1"/>
              </a:buClr>
              <a:buSzPts val="1200"/>
              <a:buFont typeface="Open Sans"/>
              <a:buChar char="●"/>
            </a:pPr>
            <a:r>
              <a:rPr lang="es" sz="1200">
                <a:solidFill>
                  <a:schemeClr val="dk1"/>
                </a:solidFill>
                <a:highlight>
                  <a:srgbClr val="FFFFFF"/>
                </a:highlight>
                <a:latin typeface="Open Sans"/>
                <a:ea typeface="Open Sans"/>
                <a:cs typeface="Open Sans"/>
                <a:sym typeface="Open Sans"/>
              </a:rPr>
              <a:t>Explore how EDA techniques validate hypotheses and reveal insights.</a:t>
            </a:r>
            <a:endParaRPr sz="1200">
              <a:solidFill>
                <a:schemeClr val="dk1"/>
              </a:solidFill>
              <a:highlight>
                <a:srgbClr val="FFFFFF"/>
              </a:highlight>
              <a:latin typeface="Open Sans"/>
              <a:ea typeface="Open Sans"/>
              <a:cs typeface="Open Sans"/>
              <a:sym typeface="Open Sans"/>
            </a:endParaRPr>
          </a:p>
          <a:p>
            <a:pPr indent="-304800" lvl="0" marL="609600" rtl="0" algn="l">
              <a:lnSpc>
                <a:spcPct val="140000"/>
              </a:lnSpc>
              <a:spcBef>
                <a:spcPts val="0"/>
              </a:spcBef>
              <a:spcAft>
                <a:spcPts val="0"/>
              </a:spcAft>
              <a:buClr>
                <a:schemeClr val="dk1"/>
              </a:buClr>
              <a:buSzPts val="1200"/>
              <a:buFont typeface="Open Sans"/>
              <a:buChar char="●"/>
            </a:pPr>
            <a:r>
              <a:rPr lang="es" sz="1200">
                <a:solidFill>
                  <a:schemeClr val="dk1"/>
                </a:solidFill>
                <a:highlight>
                  <a:srgbClr val="FFFFFF"/>
                </a:highlight>
                <a:latin typeface="Open Sans"/>
                <a:ea typeface="Open Sans"/>
                <a:cs typeface="Open Sans"/>
                <a:sym typeface="Open Sans"/>
              </a:rPr>
              <a:t>Share findings with the Dev Team and apply appropriate EDA methods and visualization tools.</a:t>
            </a:r>
            <a:endParaRPr sz="1200">
              <a:solidFill>
                <a:schemeClr val="dk1"/>
              </a:solidFill>
              <a:highlight>
                <a:srgbClr val="FFFFFF"/>
              </a:highlight>
              <a:latin typeface="Open Sans"/>
              <a:ea typeface="Open Sans"/>
              <a:cs typeface="Open Sans"/>
              <a:sym typeface="Open Sans"/>
            </a:endParaRPr>
          </a:p>
          <a:p>
            <a:pPr indent="0" lvl="0" marL="0" rtl="0" algn="l">
              <a:spcBef>
                <a:spcPts val="80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c7ad483c0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c7ad483c0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609600" rtl="0" algn="l">
              <a:lnSpc>
                <a:spcPct val="140000"/>
              </a:lnSpc>
              <a:spcBef>
                <a:spcPts val="1200"/>
              </a:spcBef>
              <a:spcAft>
                <a:spcPts val="0"/>
              </a:spcAft>
              <a:buClr>
                <a:schemeClr val="dk1"/>
              </a:buClr>
              <a:buSzPts val="1200"/>
              <a:buFont typeface="Open Sans"/>
              <a:buChar char="●"/>
            </a:pPr>
            <a:r>
              <a:rPr lang="es" sz="1200">
                <a:solidFill>
                  <a:schemeClr val="dk1"/>
                </a:solidFill>
                <a:highlight>
                  <a:srgbClr val="FFFFFF"/>
                </a:highlight>
                <a:latin typeface="Open Sans"/>
                <a:ea typeface="Open Sans"/>
                <a:cs typeface="Open Sans"/>
                <a:sym typeface="Open Sans"/>
              </a:rPr>
              <a:t>Discuss the exploratory data analysis methods you used.</a:t>
            </a:r>
            <a:endParaRPr sz="1200">
              <a:solidFill>
                <a:schemeClr val="dk1"/>
              </a:solidFill>
              <a:highlight>
                <a:srgbClr val="FFFFFF"/>
              </a:highlight>
              <a:latin typeface="Open Sans"/>
              <a:ea typeface="Open Sans"/>
              <a:cs typeface="Open Sans"/>
              <a:sym typeface="Open Sans"/>
            </a:endParaRPr>
          </a:p>
          <a:p>
            <a:pPr indent="-304800" lvl="0" marL="609600" rtl="0" algn="l">
              <a:lnSpc>
                <a:spcPct val="140000"/>
              </a:lnSpc>
              <a:spcBef>
                <a:spcPts val="0"/>
              </a:spcBef>
              <a:spcAft>
                <a:spcPts val="0"/>
              </a:spcAft>
              <a:buClr>
                <a:schemeClr val="dk1"/>
              </a:buClr>
              <a:buSzPts val="1200"/>
              <a:buFont typeface="Open Sans"/>
              <a:buChar char="●"/>
            </a:pPr>
            <a:r>
              <a:rPr lang="es" sz="1200">
                <a:solidFill>
                  <a:schemeClr val="dk1"/>
                </a:solidFill>
                <a:highlight>
                  <a:srgbClr val="FFFFFF"/>
                </a:highlight>
                <a:latin typeface="Open Sans"/>
                <a:ea typeface="Open Sans"/>
                <a:cs typeface="Open Sans"/>
                <a:sym typeface="Open Sans"/>
              </a:rPr>
              <a:t>Share insights and interesting patterns you found.</a:t>
            </a:r>
            <a:endParaRPr sz="1200">
              <a:solidFill>
                <a:schemeClr val="dk1"/>
              </a:solidFill>
              <a:highlight>
                <a:srgbClr val="FFFFFF"/>
              </a:highlight>
              <a:latin typeface="Open Sans"/>
              <a:ea typeface="Open Sans"/>
              <a:cs typeface="Open Sans"/>
              <a:sym typeface="Open Sans"/>
            </a:endParaRPr>
          </a:p>
          <a:p>
            <a:pPr indent="0" lvl="0" marL="0" rtl="0" algn="l">
              <a:spcBef>
                <a:spcPts val="120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c7ad483c0c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c7ad483c0c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609600" rtl="0" algn="l">
              <a:lnSpc>
                <a:spcPct val="140000"/>
              </a:lnSpc>
              <a:spcBef>
                <a:spcPts val="1200"/>
              </a:spcBef>
              <a:spcAft>
                <a:spcPts val="0"/>
              </a:spcAft>
              <a:buClr>
                <a:schemeClr val="dk1"/>
              </a:buClr>
              <a:buSzPts val="1200"/>
              <a:buFont typeface="Open Sans"/>
              <a:buChar char="●"/>
            </a:pPr>
            <a:r>
              <a:rPr lang="es" sz="1200">
                <a:solidFill>
                  <a:schemeClr val="dk1"/>
                </a:solidFill>
                <a:highlight>
                  <a:srgbClr val="FFFFFF"/>
                </a:highlight>
                <a:latin typeface="Open Sans"/>
                <a:ea typeface="Open Sans"/>
                <a:cs typeface="Open Sans"/>
                <a:sym typeface="Open Sans"/>
              </a:rPr>
              <a:t>Discuss the exploratory data analysis methods you used.</a:t>
            </a:r>
            <a:endParaRPr sz="1200">
              <a:solidFill>
                <a:schemeClr val="dk1"/>
              </a:solidFill>
              <a:highlight>
                <a:srgbClr val="FFFFFF"/>
              </a:highlight>
              <a:latin typeface="Open Sans"/>
              <a:ea typeface="Open Sans"/>
              <a:cs typeface="Open Sans"/>
              <a:sym typeface="Open Sans"/>
            </a:endParaRPr>
          </a:p>
          <a:p>
            <a:pPr indent="-304800" lvl="0" marL="609600" rtl="0" algn="l">
              <a:lnSpc>
                <a:spcPct val="140000"/>
              </a:lnSpc>
              <a:spcBef>
                <a:spcPts val="0"/>
              </a:spcBef>
              <a:spcAft>
                <a:spcPts val="0"/>
              </a:spcAft>
              <a:buClr>
                <a:schemeClr val="dk1"/>
              </a:buClr>
              <a:buSzPts val="1200"/>
              <a:buFont typeface="Open Sans"/>
              <a:buChar char="●"/>
            </a:pPr>
            <a:r>
              <a:rPr lang="es" sz="1200">
                <a:solidFill>
                  <a:schemeClr val="dk1"/>
                </a:solidFill>
                <a:highlight>
                  <a:srgbClr val="FFFFFF"/>
                </a:highlight>
                <a:latin typeface="Open Sans"/>
                <a:ea typeface="Open Sans"/>
                <a:cs typeface="Open Sans"/>
                <a:sym typeface="Open Sans"/>
              </a:rPr>
              <a:t>Share insights and interesting patterns you found.</a:t>
            </a:r>
            <a:endParaRPr sz="1200">
              <a:solidFill>
                <a:schemeClr val="dk1"/>
              </a:solidFill>
              <a:highlight>
                <a:srgbClr val="FFFFFF"/>
              </a:highlight>
              <a:latin typeface="Open Sans"/>
              <a:ea typeface="Open Sans"/>
              <a:cs typeface="Open Sans"/>
              <a:sym typeface="Open Sans"/>
            </a:endParaRPr>
          </a:p>
          <a:p>
            <a:pPr indent="0" lvl="0" marL="0" rtl="0" algn="l">
              <a:spcBef>
                <a:spcPts val="120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c6bd3be1b6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c6bd3be1b6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609600" rtl="0" algn="l">
              <a:lnSpc>
                <a:spcPct val="140000"/>
              </a:lnSpc>
              <a:spcBef>
                <a:spcPts val="1200"/>
              </a:spcBef>
              <a:spcAft>
                <a:spcPts val="0"/>
              </a:spcAft>
              <a:buClr>
                <a:schemeClr val="dk1"/>
              </a:buClr>
              <a:buSzPts val="1200"/>
              <a:buFont typeface="Open Sans"/>
              <a:buChar char="●"/>
            </a:pPr>
            <a:r>
              <a:rPr lang="es" sz="1200">
                <a:solidFill>
                  <a:schemeClr val="dk1"/>
                </a:solidFill>
                <a:highlight>
                  <a:srgbClr val="FFFFFF"/>
                </a:highlight>
                <a:latin typeface="Open Sans"/>
                <a:ea typeface="Open Sans"/>
                <a:cs typeface="Open Sans"/>
                <a:sym typeface="Open Sans"/>
              </a:rPr>
              <a:t>Discuss the exploratory data analysis methods you used.</a:t>
            </a:r>
            <a:endParaRPr sz="1200">
              <a:solidFill>
                <a:schemeClr val="dk1"/>
              </a:solidFill>
              <a:highlight>
                <a:srgbClr val="FFFFFF"/>
              </a:highlight>
              <a:latin typeface="Open Sans"/>
              <a:ea typeface="Open Sans"/>
              <a:cs typeface="Open Sans"/>
              <a:sym typeface="Open Sans"/>
            </a:endParaRPr>
          </a:p>
          <a:p>
            <a:pPr indent="-304800" lvl="0" marL="609600" rtl="0" algn="l">
              <a:lnSpc>
                <a:spcPct val="140000"/>
              </a:lnSpc>
              <a:spcBef>
                <a:spcPts val="0"/>
              </a:spcBef>
              <a:spcAft>
                <a:spcPts val="0"/>
              </a:spcAft>
              <a:buClr>
                <a:schemeClr val="dk1"/>
              </a:buClr>
              <a:buSzPts val="1200"/>
              <a:buFont typeface="Open Sans"/>
              <a:buChar char="●"/>
            </a:pPr>
            <a:r>
              <a:rPr lang="es" sz="1200">
                <a:solidFill>
                  <a:schemeClr val="dk1"/>
                </a:solidFill>
                <a:highlight>
                  <a:srgbClr val="FFFFFF"/>
                </a:highlight>
                <a:latin typeface="Open Sans"/>
                <a:ea typeface="Open Sans"/>
                <a:cs typeface="Open Sans"/>
                <a:sym typeface="Open Sans"/>
              </a:rPr>
              <a:t>Share insights and interesting patterns you found.</a:t>
            </a:r>
            <a:endParaRPr sz="1200">
              <a:solidFill>
                <a:schemeClr val="dk1"/>
              </a:solidFill>
              <a:highlight>
                <a:srgbClr val="FFFFFF"/>
              </a:highlight>
              <a:latin typeface="Open Sans"/>
              <a:ea typeface="Open Sans"/>
              <a:cs typeface="Open Sans"/>
              <a:sym typeface="Open Sans"/>
            </a:endParaRPr>
          </a:p>
          <a:p>
            <a:pPr indent="0" lvl="0" marL="0" rtl="0" algn="l">
              <a:spcBef>
                <a:spcPts val="120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c7ad483c0c_1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c7ad483c0c_1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609600" rtl="0" algn="l">
              <a:lnSpc>
                <a:spcPct val="140000"/>
              </a:lnSpc>
              <a:spcBef>
                <a:spcPts val="1200"/>
              </a:spcBef>
              <a:spcAft>
                <a:spcPts val="0"/>
              </a:spcAft>
              <a:buClr>
                <a:schemeClr val="dk1"/>
              </a:buClr>
              <a:buSzPts val="1200"/>
              <a:buFont typeface="Open Sans"/>
              <a:buChar char="●"/>
            </a:pPr>
            <a:r>
              <a:rPr lang="es" sz="1200">
                <a:solidFill>
                  <a:schemeClr val="dk1"/>
                </a:solidFill>
                <a:highlight>
                  <a:srgbClr val="FFFFFF"/>
                </a:highlight>
                <a:latin typeface="Open Sans"/>
                <a:ea typeface="Open Sans"/>
                <a:cs typeface="Open Sans"/>
                <a:sym typeface="Open Sans"/>
              </a:rPr>
              <a:t>Discuss the exploratory data analysis methods you used.</a:t>
            </a:r>
            <a:endParaRPr sz="1200">
              <a:solidFill>
                <a:schemeClr val="dk1"/>
              </a:solidFill>
              <a:highlight>
                <a:srgbClr val="FFFFFF"/>
              </a:highlight>
              <a:latin typeface="Open Sans"/>
              <a:ea typeface="Open Sans"/>
              <a:cs typeface="Open Sans"/>
              <a:sym typeface="Open Sans"/>
            </a:endParaRPr>
          </a:p>
          <a:p>
            <a:pPr indent="-304800" lvl="0" marL="609600" rtl="0" algn="l">
              <a:lnSpc>
                <a:spcPct val="140000"/>
              </a:lnSpc>
              <a:spcBef>
                <a:spcPts val="0"/>
              </a:spcBef>
              <a:spcAft>
                <a:spcPts val="0"/>
              </a:spcAft>
              <a:buClr>
                <a:schemeClr val="dk1"/>
              </a:buClr>
              <a:buSzPts val="1200"/>
              <a:buFont typeface="Open Sans"/>
              <a:buChar char="●"/>
            </a:pPr>
            <a:r>
              <a:rPr lang="es" sz="1200">
                <a:solidFill>
                  <a:schemeClr val="dk1"/>
                </a:solidFill>
                <a:highlight>
                  <a:srgbClr val="FFFFFF"/>
                </a:highlight>
                <a:latin typeface="Open Sans"/>
                <a:ea typeface="Open Sans"/>
                <a:cs typeface="Open Sans"/>
                <a:sym typeface="Open Sans"/>
              </a:rPr>
              <a:t>Share insights and interesting patterns you found.</a:t>
            </a:r>
            <a:endParaRPr sz="1200">
              <a:solidFill>
                <a:schemeClr val="dk1"/>
              </a:solidFill>
              <a:highlight>
                <a:srgbClr val="FFFFFF"/>
              </a:highlight>
              <a:latin typeface="Open Sans"/>
              <a:ea typeface="Open Sans"/>
              <a:cs typeface="Open Sans"/>
              <a:sym typeface="Open Sans"/>
            </a:endParaRPr>
          </a:p>
          <a:p>
            <a:pPr indent="0" lvl="0" marL="0" rtl="0" algn="l">
              <a:spcBef>
                <a:spcPts val="120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c7ad483c0c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c7ad483c0c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609600" rtl="0" algn="l">
              <a:lnSpc>
                <a:spcPct val="140000"/>
              </a:lnSpc>
              <a:spcBef>
                <a:spcPts val="1200"/>
              </a:spcBef>
              <a:spcAft>
                <a:spcPts val="0"/>
              </a:spcAft>
              <a:buClr>
                <a:schemeClr val="dk1"/>
              </a:buClr>
              <a:buSzPts val="1200"/>
              <a:buFont typeface="Open Sans"/>
              <a:buChar char="●"/>
            </a:pPr>
            <a:r>
              <a:rPr lang="es" sz="1200">
                <a:solidFill>
                  <a:schemeClr val="dk1"/>
                </a:solidFill>
                <a:highlight>
                  <a:srgbClr val="FFFFFF"/>
                </a:highlight>
                <a:latin typeface="Open Sans"/>
                <a:ea typeface="Open Sans"/>
                <a:cs typeface="Open Sans"/>
                <a:sym typeface="Open Sans"/>
              </a:rPr>
              <a:t>Discuss the biggest obstacle or mistake you encountered during this project.</a:t>
            </a:r>
            <a:endParaRPr sz="1200">
              <a:solidFill>
                <a:schemeClr val="dk1"/>
              </a:solidFill>
              <a:highlight>
                <a:srgbClr val="FFFFFF"/>
              </a:highlight>
              <a:latin typeface="Open Sans"/>
              <a:ea typeface="Open Sans"/>
              <a:cs typeface="Open Sans"/>
              <a:sym typeface="Open Sans"/>
            </a:endParaRPr>
          </a:p>
          <a:p>
            <a:pPr indent="-304800" lvl="0" marL="609600" rtl="0" algn="l">
              <a:lnSpc>
                <a:spcPct val="140000"/>
              </a:lnSpc>
              <a:spcBef>
                <a:spcPts val="0"/>
              </a:spcBef>
              <a:spcAft>
                <a:spcPts val="0"/>
              </a:spcAft>
              <a:buClr>
                <a:schemeClr val="dk1"/>
              </a:buClr>
              <a:buSzPts val="1200"/>
              <a:buFont typeface="Open Sans"/>
              <a:buChar char="●"/>
            </a:pPr>
            <a:r>
              <a:rPr lang="es" sz="1200">
                <a:solidFill>
                  <a:schemeClr val="dk1"/>
                </a:solidFill>
                <a:highlight>
                  <a:srgbClr val="FFFFFF"/>
                </a:highlight>
                <a:latin typeface="Open Sans"/>
                <a:ea typeface="Open Sans"/>
                <a:cs typeface="Open Sans"/>
                <a:sym typeface="Open Sans"/>
              </a:rPr>
              <a:t>Share what you learned from it and how it influenced your project</a:t>
            </a:r>
            <a:endParaRPr sz="1200">
              <a:solidFill>
                <a:schemeClr val="dk1"/>
              </a:solidFill>
              <a:highlight>
                <a:srgbClr val="FFFFFF"/>
              </a:highlight>
              <a:latin typeface="Open Sans"/>
              <a:ea typeface="Open Sans"/>
              <a:cs typeface="Open Sans"/>
              <a:sym typeface="Open Sans"/>
            </a:endParaRPr>
          </a:p>
          <a:p>
            <a:pPr indent="0" lvl="0" marL="0" rtl="0" algn="l">
              <a:spcBef>
                <a:spcPts val="120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c6541b5645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c6541b5645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609600" rtl="0" algn="l">
              <a:lnSpc>
                <a:spcPct val="140000"/>
              </a:lnSpc>
              <a:spcBef>
                <a:spcPts val="1200"/>
              </a:spcBef>
              <a:spcAft>
                <a:spcPts val="0"/>
              </a:spcAft>
              <a:buClr>
                <a:schemeClr val="dk1"/>
              </a:buClr>
              <a:buSzPts val="1200"/>
              <a:buFont typeface="Open Sans"/>
              <a:buChar char="●"/>
            </a:pPr>
            <a:r>
              <a:rPr lang="es" sz="1200">
                <a:solidFill>
                  <a:schemeClr val="dk1"/>
                </a:solidFill>
                <a:highlight>
                  <a:srgbClr val="FFFFFF"/>
                </a:highlight>
                <a:latin typeface="Open Sans"/>
                <a:ea typeface="Open Sans"/>
                <a:cs typeface="Open Sans"/>
                <a:sym typeface="Open Sans"/>
              </a:rPr>
              <a:t>Discuss the biggest obstacle or mistake you encountered during this project.</a:t>
            </a:r>
            <a:endParaRPr sz="1200">
              <a:solidFill>
                <a:schemeClr val="dk1"/>
              </a:solidFill>
              <a:highlight>
                <a:srgbClr val="FFFFFF"/>
              </a:highlight>
              <a:latin typeface="Open Sans"/>
              <a:ea typeface="Open Sans"/>
              <a:cs typeface="Open Sans"/>
              <a:sym typeface="Open Sans"/>
            </a:endParaRPr>
          </a:p>
          <a:p>
            <a:pPr indent="-304800" lvl="0" marL="609600" rtl="0" algn="l">
              <a:lnSpc>
                <a:spcPct val="140000"/>
              </a:lnSpc>
              <a:spcBef>
                <a:spcPts val="0"/>
              </a:spcBef>
              <a:spcAft>
                <a:spcPts val="0"/>
              </a:spcAft>
              <a:buClr>
                <a:schemeClr val="dk1"/>
              </a:buClr>
              <a:buSzPts val="1200"/>
              <a:buFont typeface="Open Sans"/>
              <a:buChar char="●"/>
            </a:pPr>
            <a:r>
              <a:rPr lang="es" sz="1200">
                <a:solidFill>
                  <a:schemeClr val="dk1"/>
                </a:solidFill>
                <a:highlight>
                  <a:srgbClr val="FFFFFF"/>
                </a:highlight>
                <a:latin typeface="Open Sans"/>
                <a:ea typeface="Open Sans"/>
                <a:cs typeface="Open Sans"/>
                <a:sym typeface="Open Sans"/>
              </a:rPr>
              <a:t>Share what you learned from it and how it influenced your </a:t>
            </a:r>
            <a:r>
              <a:rPr lang="es" sz="1200">
                <a:solidFill>
                  <a:schemeClr val="dk1"/>
                </a:solidFill>
                <a:highlight>
                  <a:srgbClr val="FFFFFF"/>
                </a:highlight>
                <a:latin typeface="Open Sans"/>
                <a:ea typeface="Open Sans"/>
                <a:cs typeface="Open Sans"/>
                <a:sym typeface="Open Sans"/>
              </a:rPr>
              <a:t>project</a:t>
            </a:r>
            <a:endParaRPr sz="1200">
              <a:solidFill>
                <a:schemeClr val="dk1"/>
              </a:solidFill>
              <a:highlight>
                <a:srgbClr val="FFFFFF"/>
              </a:highlight>
              <a:latin typeface="Open Sans"/>
              <a:ea typeface="Open Sans"/>
              <a:cs typeface="Open Sans"/>
              <a:sym typeface="Open Sans"/>
            </a:endParaRPr>
          </a:p>
          <a:p>
            <a:pPr indent="0" lvl="0" marL="0" rtl="0" algn="l">
              <a:spcBef>
                <a:spcPts val="120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c6541b5645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c6541b5645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609600" rtl="0" algn="l">
              <a:lnSpc>
                <a:spcPct val="140000"/>
              </a:lnSpc>
              <a:spcBef>
                <a:spcPts val="1200"/>
              </a:spcBef>
              <a:spcAft>
                <a:spcPts val="0"/>
              </a:spcAft>
              <a:buClr>
                <a:schemeClr val="dk1"/>
              </a:buClr>
              <a:buSzPts val="1200"/>
              <a:buFont typeface="Open Sans"/>
              <a:buChar char="●"/>
            </a:pPr>
            <a:r>
              <a:rPr lang="es" sz="1200">
                <a:solidFill>
                  <a:schemeClr val="dk1"/>
                </a:solidFill>
                <a:highlight>
                  <a:srgbClr val="FFFFFF"/>
                </a:highlight>
                <a:latin typeface="Open Sans"/>
                <a:ea typeface="Open Sans"/>
                <a:cs typeface="Open Sans"/>
                <a:sym typeface="Open Sans"/>
              </a:rPr>
              <a:t>Discuss whether your initial hypothesis was supported or refuted.</a:t>
            </a:r>
            <a:endParaRPr sz="1200">
              <a:solidFill>
                <a:schemeClr val="dk1"/>
              </a:solidFill>
              <a:highlight>
                <a:srgbClr val="FFFFFF"/>
              </a:highlight>
              <a:latin typeface="Open Sans"/>
              <a:ea typeface="Open Sans"/>
              <a:cs typeface="Open Sans"/>
              <a:sym typeface="Open Sans"/>
            </a:endParaRPr>
          </a:p>
          <a:p>
            <a:pPr indent="-304800" lvl="0" marL="609600" rtl="0" algn="l">
              <a:lnSpc>
                <a:spcPct val="140000"/>
              </a:lnSpc>
              <a:spcBef>
                <a:spcPts val="0"/>
              </a:spcBef>
              <a:spcAft>
                <a:spcPts val="0"/>
              </a:spcAft>
              <a:buClr>
                <a:schemeClr val="dk1"/>
              </a:buClr>
              <a:buSzPts val="1200"/>
              <a:buFont typeface="Open Sans"/>
              <a:buChar char="●"/>
            </a:pPr>
            <a:r>
              <a:rPr lang="es" sz="1200">
                <a:solidFill>
                  <a:schemeClr val="dk1"/>
                </a:solidFill>
                <a:highlight>
                  <a:srgbClr val="FFFFFF"/>
                </a:highlight>
                <a:latin typeface="Open Sans"/>
                <a:ea typeface="Open Sans"/>
                <a:cs typeface="Open Sans"/>
                <a:sym typeface="Open Sans"/>
              </a:rPr>
              <a:t>Share any surprising insights or findings.</a:t>
            </a:r>
            <a:endParaRPr sz="1200">
              <a:solidFill>
                <a:schemeClr val="dk1"/>
              </a:solidFill>
              <a:highlight>
                <a:srgbClr val="FFFFFF"/>
              </a:highlight>
              <a:latin typeface="Open Sans"/>
              <a:ea typeface="Open Sans"/>
              <a:cs typeface="Open Sans"/>
              <a:sym typeface="Open Sans"/>
            </a:endParaRPr>
          </a:p>
          <a:p>
            <a:pPr indent="-304800" lvl="0" marL="609600" rtl="0" algn="l">
              <a:lnSpc>
                <a:spcPct val="140000"/>
              </a:lnSpc>
              <a:spcBef>
                <a:spcPts val="0"/>
              </a:spcBef>
              <a:spcAft>
                <a:spcPts val="0"/>
              </a:spcAft>
              <a:buClr>
                <a:schemeClr val="dk1"/>
              </a:buClr>
              <a:buSzPts val="1200"/>
              <a:buFont typeface="Open Sans"/>
              <a:buChar char="●"/>
            </a:pPr>
            <a:r>
              <a:rPr lang="es" sz="1200">
                <a:solidFill>
                  <a:schemeClr val="dk1"/>
                </a:solidFill>
                <a:highlight>
                  <a:srgbClr val="FFFFFF"/>
                </a:highlight>
                <a:latin typeface="Open Sans"/>
                <a:ea typeface="Open Sans"/>
                <a:cs typeface="Open Sans"/>
                <a:sym typeface="Open Sans"/>
              </a:rPr>
              <a:t>Discuss potential implications of your findings.</a:t>
            </a:r>
            <a:endParaRPr sz="1200">
              <a:solidFill>
                <a:schemeClr val="dk1"/>
              </a:solidFill>
              <a:highlight>
                <a:srgbClr val="FFFFFF"/>
              </a:highlight>
              <a:latin typeface="Open Sans"/>
              <a:ea typeface="Open Sans"/>
              <a:cs typeface="Open Sans"/>
              <a:sym typeface="Open Sans"/>
            </a:endParaRPr>
          </a:p>
          <a:p>
            <a:pPr indent="0" lvl="0" marL="0" rtl="0" algn="l">
              <a:spcBef>
                <a:spcPts val="120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c7ad483c0c_1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3c7ad483c0c_1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609600" rtl="0" algn="l">
              <a:lnSpc>
                <a:spcPct val="140000"/>
              </a:lnSpc>
              <a:spcBef>
                <a:spcPts val="1200"/>
              </a:spcBef>
              <a:spcAft>
                <a:spcPts val="0"/>
              </a:spcAft>
              <a:buClr>
                <a:schemeClr val="dk1"/>
              </a:buClr>
              <a:buSzPts val="1200"/>
              <a:buFont typeface="Open Sans"/>
              <a:buChar char="●"/>
            </a:pPr>
            <a:r>
              <a:rPr lang="es" sz="1200">
                <a:solidFill>
                  <a:schemeClr val="dk1"/>
                </a:solidFill>
                <a:highlight>
                  <a:srgbClr val="FFFFFF"/>
                </a:highlight>
                <a:latin typeface="Open Sans"/>
                <a:ea typeface="Open Sans"/>
                <a:cs typeface="Open Sans"/>
                <a:sym typeface="Open Sans"/>
              </a:rPr>
              <a:t>Discuss whether your initial hypothesis was supported or refuted.</a:t>
            </a:r>
            <a:endParaRPr sz="1200">
              <a:solidFill>
                <a:schemeClr val="dk1"/>
              </a:solidFill>
              <a:highlight>
                <a:srgbClr val="FFFFFF"/>
              </a:highlight>
              <a:latin typeface="Open Sans"/>
              <a:ea typeface="Open Sans"/>
              <a:cs typeface="Open Sans"/>
              <a:sym typeface="Open Sans"/>
            </a:endParaRPr>
          </a:p>
          <a:p>
            <a:pPr indent="-304800" lvl="0" marL="609600" rtl="0" algn="l">
              <a:lnSpc>
                <a:spcPct val="140000"/>
              </a:lnSpc>
              <a:spcBef>
                <a:spcPts val="0"/>
              </a:spcBef>
              <a:spcAft>
                <a:spcPts val="0"/>
              </a:spcAft>
              <a:buClr>
                <a:schemeClr val="dk1"/>
              </a:buClr>
              <a:buSzPts val="1200"/>
              <a:buFont typeface="Open Sans"/>
              <a:buChar char="●"/>
            </a:pPr>
            <a:r>
              <a:rPr lang="es" sz="1200">
                <a:solidFill>
                  <a:schemeClr val="dk1"/>
                </a:solidFill>
                <a:highlight>
                  <a:srgbClr val="FFFFFF"/>
                </a:highlight>
                <a:latin typeface="Open Sans"/>
                <a:ea typeface="Open Sans"/>
                <a:cs typeface="Open Sans"/>
                <a:sym typeface="Open Sans"/>
              </a:rPr>
              <a:t>Share any surprising insights or findings.</a:t>
            </a:r>
            <a:endParaRPr sz="1200">
              <a:solidFill>
                <a:schemeClr val="dk1"/>
              </a:solidFill>
              <a:highlight>
                <a:srgbClr val="FFFFFF"/>
              </a:highlight>
              <a:latin typeface="Open Sans"/>
              <a:ea typeface="Open Sans"/>
              <a:cs typeface="Open Sans"/>
              <a:sym typeface="Open Sans"/>
            </a:endParaRPr>
          </a:p>
          <a:p>
            <a:pPr indent="-304800" lvl="0" marL="609600" rtl="0" algn="l">
              <a:lnSpc>
                <a:spcPct val="140000"/>
              </a:lnSpc>
              <a:spcBef>
                <a:spcPts val="0"/>
              </a:spcBef>
              <a:spcAft>
                <a:spcPts val="0"/>
              </a:spcAft>
              <a:buClr>
                <a:schemeClr val="dk1"/>
              </a:buClr>
              <a:buSzPts val="1200"/>
              <a:buFont typeface="Open Sans"/>
              <a:buChar char="●"/>
            </a:pPr>
            <a:r>
              <a:rPr lang="es" sz="1200">
                <a:solidFill>
                  <a:schemeClr val="dk1"/>
                </a:solidFill>
                <a:highlight>
                  <a:srgbClr val="FFFFFF"/>
                </a:highlight>
                <a:latin typeface="Open Sans"/>
                <a:ea typeface="Open Sans"/>
                <a:cs typeface="Open Sans"/>
                <a:sym typeface="Open Sans"/>
              </a:rPr>
              <a:t>Discuss potential implications of your findings.</a:t>
            </a:r>
            <a:endParaRPr sz="1200">
              <a:solidFill>
                <a:schemeClr val="dk1"/>
              </a:solidFill>
              <a:highlight>
                <a:srgbClr val="FFFFFF"/>
              </a:highlight>
              <a:latin typeface="Open Sans"/>
              <a:ea typeface="Open Sans"/>
              <a:cs typeface="Open Sans"/>
              <a:sym typeface="Open Sans"/>
            </a:endParaRPr>
          </a:p>
          <a:p>
            <a:pPr indent="0" lvl="0" marL="0" rtl="0" algn="l">
              <a:spcBef>
                <a:spcPts val="120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c6541b5645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3c6541b5645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c7ad483c0c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c7ad483c0c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7.png"/><Relationship Id="rId4" Type="http://schemas.openxmlformats.org/officeDocument/2006/relationships/image" Target="../media/image9.png"/><Relationship Id="rId5"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6.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Mini Project</a:t>
            </a:r>
            <a:endParaRPr/>
          </a:p>
          <a:p>
            <a:pPr indent="0" lvl="0" marL="0" rtl="0" algn="l">
              <a:spcBef>
                <a:spcPts val="0"/>
              </a:spcBef>
              <a:spcAft>
                <a:spcPts val="0"/>
              </a:spcAft>
              <a:buNone/>
            </a:pPr>
            <a:r>
              <a:rPr lang="es"/>
              <a:t>Shark Attacks</a:t>
            </a:r>
            <a:endParaRPr/>
          </a:p>
        </p:txBody>
      </p:sp>
      <p:sp>
        <p:nvSpPr>
          <p:cNvPr id="87" name="Google Shape;87;p13"/>
          <p:cNvSpPr txBox="1"/>
          <p:nvPr>
            <p:ph idx="1" type="subTitle"/>
          </p:nvPr>
        </p:nvSpPr>
        <p:spPr>
          <a:xfrm>
            <a:off x="311700" y="4142975"/>
            <a:ext cx="5120100" cy="6921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s"/>
              <a:t>Diego Fornero</a:t>
            </a:r>
            <a:endParaRPr/>
          </a:p>
          <a:p>
            <a:pPr indent="0" lvl="0" marL="0" rtl="0" algn="l">
              <a:spcBef>
                <a:spcPts val="0"/>
              </a:spcBef>
              <a:spcAft>
                <a:spcPts val="0"/>
              </a:spcAft>
              <a:buNone/>
            </a:pPr>
            <a:r>
              <a:rPr lang="es"/>
              <a:t>Olga Galanina</a:t>
            </a:r>
            <a:endParaRPr/>
          </a:p>
          <a:p>
            <a:pPr indent="0" lvl="0" marL="0" rtl="0" algn="l">
              <a:spcBef>
                <a:spcPts val="0"/>
              </a:spcBef>
              <a:spcAft>
                <a:spcPts val="0"/>
              </a:spcAft>
              <a:buNone/>
            </a:pPr>
            <a:r>
              <a:rPr lang="es"/>
              <a:t>Lucila Gonzalez</a:t>
            </a:r>
            <a:endParaRPr/>
          </a:p>
        </p:txBody>
      </p:sp>
      <p:sp>
        <p:nvSpPr>
          <p:cNvPr id="88" name="Google Shape;88;p13"/>
          <p:cNvSpPr txBox="1"/>
          <p:nvPr>
            <p:ph idx="1" type="subTitle"/>
          </p:nvPr>
        </p:nvSpPr>
        <p:spPr>
          <a:xfrm>
            <a:off x="6112725" y="4142975"/>
            <a:ext cx="2719500" cy="692100"/>
          </a:xfrm>
          <a:prstGeom prst="rect">
            <a:avLst/>
          </a:prstGeom>
        </p:spPr>
        <p:txBody>
          <a:bodyPr anchorCtr="0" anchor="t" bIns="91425" lIns="91425" spcFirstLastPara="1" rIns="91425" wrap="square" tIns="91425">
            <a:normAutofit fontScale="85000" lnSpcReduction="20000"/>
          </a:bodyPr>
          <a:lstStyle/>
          <a:p>
            <a:pPr indent="0" lvl="0" marL="0" rtl="0" algn="r">
              <a:spcBef>
                <a:spcPts val="0"/>
              </a:spcBef>
              <a:spcAft>
                <a:spcPts val="0"/>
              </a:spcAft>
              <a:buNone/>
            </a:pPr>
            <a:r>
              <a:rPr lang="es"/>
              <a:t>17/02/2026</a:t>
            </a:r>
            <a:endParaRPr/>
          </a:p>
          <a:p>
            <a:pPr indent="0" lvl="0" marL="0" rtl="0" algn="r">
              <a:spcBef>
                <a:spcPts val="0"/>
              </a:spcBef>
              <a:spcAft>
                <a:spcPts val="0"/>
              </a:spcAft>
              <a:buNone/>
            </a:pPr>
            <a:r>
              <a:rPr lang="es"/>
              <a:t>Data </a:t>
            </a:r>
            <a:r>
              <a:rPr lang="es"/>
              <a:t>Analytics</a:t>
            </a:r>
            <a:endParaRPr/>
          </a:p>
          <a:p>
            <a:pPr indent="0" lvl="0" marL="0" rtl="0" algn="r">
              <a:spcBef>
                <a:spcPts val="0"/>
              </a:spcBef>
              <a:spcAft>
                <a:spcPts val="0"/>
              </a:spcAft>
              <a:buNone/>
            </a:pPr>
            <a:r>
              <a:rPr lang="es"/>
              <a:t>IRONHACK</a:t>
            </a:r>
            <a:endParaRPr/>
          </a:p>
        </p:txBody>
      </p:sp>
      <p:sp>
        <p:nvSpPr>
          <p:cNvPr id="89" name="Google Shape;89;p1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4"/>
          <p:cNvSpPr txBox="1"/>
          <p:nvPr>
            <p:ph type="title"/>
          </p:nvPr>
        </p:nvSpPr>
        <p:spPr>
          <a:xfrm>
            <a:off x="703225" y="570250"/>
            <a:ext cx="8006100" cy="564300"/>
          </a:xfrm>
          <a:prstGeom prst="rect">
            <a:avLst/>
          </a:prstGeom>
        </p:spPr>
        <p:txBody>
          <a:bodyPr anchorCtr="0" anchor="t" bIns="91425" lIns="91425" spcFirstLastPara="1" rIns="91425" wrap="square" tIns="91425">
            <a:normAutofit fontScale="90000"/>
          </a:bodyPr>
          <a:lstStyle/>
          <a:p>
            <a:pPr indent="-377190" lvl="0" marL="457200" rtl="0" algn="l">
              <a:spcBef>
                <a:spcPts val="0"/>
              </a:spcBef>
              <a:spcAft>
                <a:spcPts val="0"/>
              </a:spcAft>
              <a:buClr>
                <a:schemeClr val="dk1"/>
              </a:buClr>
              <a:buSzPct val="100000"/>
              <a:buAutoNum type="arabicPeriod"/>
            </a:pPr>
            <a:r>
              <a:rPr lang="es">
                <a:solidFill>
                  <a:schemeClr val="dk1"/>
                </a:solidFill>
              </a:rPr>
              <a:t>Project Overview</a:t>
            </a:r>
            <a:endParaRPr>
              <a:solidFill>
                <a:schemeClr val="dk1"/>
              </a:solidFill>
            </a:endParaRPr>
          </a:p>
        </p:txBody>
      </p:sp>
      <p:sp>
        <p:nvSpPr>
          <p:cNvPr id="95" name="Google Shape;95;p14"/>
          <p:cNvSpPr txBox="1"/>
          <p:nvPr>
            <p:ph idx="1" type="body"/>
          </p:nvPr>
        </p:nvSpPr>
        <p:spPr>
          <a:xfrm>
            <a:off x="703225" y="1328675"/>
            <a:ext cx="8129100" cy="36810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lang="es" sz="1400">
                <a:solidFill>
                  <a:schemeClr val="dk2"/>
                </a:solidFill>
              </a:rPr>
              <a:t>Describe the dataset</a:t>
            </a:r>
            <a:endParaRPr b="1" sz="1400">
              <a:solidFill>
                <a:schemeClr val="dk2"/>
              </a:solidFill>
            </a:endParaRPr>
          </a:p>
          <a:p>
            <a:pPr indent="0" lvl="0" marL="0" rtl="0" algn="l">
              <a:spcBef>
                <a:spcPts val="1200"/>
              </a:spcBef>
              <a:spcAft>
                <a:spcPts val="0"/>
              </a:spcAft>
              <a:buNone/>
            </a:pPr>
            <a:r>
              <a:rPr b="1" lang="es" sz="1100">
                <a:solidFill>
                  <a:schemeClr val="dk2"/>
                </a:solidFill>
              </a:rPr>
              <a:t>Source &amp; Size: Indicate where the dataset originates from and its size in terms of rows and columns.</a:t>
            </a:r>
            <a:endParaRPr b="1" sz="1100">
              <a:solidFill>
                <a:schemeClr val="dk2"/>
              </a:solidFill>
            </a:endParaRPr>
          </a:p>
          <a:p>
            <a:pPr indent="0" lvl="0" marL="0" rtl="0" algn="l">
              <a:lnSpc>
                <a:spcPct val="135714"/>
              </a:lnSpc>
              <a:spcBef>
                <a:spcPts val="1200"/>
              </a:spcBef>
              <a:spcAft>
                <a:spcPts val="0"/>
              </a:spcAft>
              <a:buNone/>
            </a:pPr>
            <a:r>
              <a:rPr lang="es" sz="1100">
                <a:solidFill>
                  <a:schemeClr val="dk2"/>
                </a:solidFill>
                <a:highlight>
                  <a:srgbClr val="FFFFFF"/>
                </a:highlight>
              </a:rPr>
              <a:t>Number of columns 7070 </a:t>
            </a:r>
            <a:endParaRPr sz="1100">
              <a:solidFill>
                <a:schemeClr val="dk2"/>
              </a:solidFill>
              <a:highlight>
                <a:srgbClr val="FFFFFF"/>
              </a:highlight>
            </a:endParaRPr>
          </a:p>
          <a:p>
            <a:pPr indent="0" lvl="0" marL="0" rtl="0" algn="l">
              <a:lnSpc>
                <a:spcPct val="135714"/>
              </a:lnSpc>
              <a:spcBef>
                <a:spcPts val="0"/>
              </a:spcBef>
              <a:spcAft>
                <a:spcPts val="0"/>
              </a:spcAft>
              <a:buNone/>
            </a:pPr>
            <a:r>
              <a:rPr lang="es" sz="1100">
                <a:solidFill>
                  <a:schemeClr val="dk2"/>
                </a:solidFill>
                <a:highlight>
                  <a:srgbClr val="FFFFFF"/>
                </a:highlight>
              </a:rPr>
              <a:t>Number of rows 23  </a:t>
            </a:r>
            <a:endParaRPr b="1" sz="1100">
              <a:solidFill>
                <a:schemeClr val="dk2"/>
              </a:solidFill>
            </a:endParaRPr>
          </a:p>
          <a:p>
            <a:pPr indent="0" lvl="0" marL="0" rtl="0" algn="l">
              <a:spcBef>
                <a:spcPts val="1200"/>
              </a:spcBef>
              <a:spcAft>
                <a:spcPts val="0"/>
              </a:spcAft>
              <a:buNone/>
            </a:pPr>
            <a:r>
              <a:rPr b="1" lang="es" sz="1100">
                <a:solidFill>
                  <a:schemeClr val="dk2"/>
                </a:solidFill>
              </a:rPr>
              <a:t>Key Columns </a:t>
            </a:r>
            <a:endParaRPr b="1" sz="1100">
              <a:solidFill>
                <a:schemeClr val="dk2"/>
              </a:solidFill>
            </a:endParaRPr>
          </a:p>
          <a:p>
            <a:pPr indent="-298450" lvl="0" marL="457200" rtl="0" algn="l">
              <a:spcBef>
                <a:spcPts val="1200"/>
              </a:spcBef>
              <a:spcAft>
                <a:spcPts val="0"/>
              </a:spcAft>
              <a:buClr>
                <a:srgbClr val="000000"/>
              </a:buClr>
              <a:buSzPts val="1100"/>
              <a:buFont typeface="Arial"/>
              <a:buChar char="-"/>
            </a:pPr>
            <a:r>
              <a:rPr b="1" lang="es" sz="1100" u="sng">
                <a:solidFill>
                  <a:srgbClr val="000000"/>
                </a:solidFill>
              </a:rPr>
              <a:t>Country</a:t>
            </a:r>
            <a:r>
              <a:rPr lang="es" sz="1100">
                <a:solidFill>
                  <a:srgbClr val="000000"/>
                </a:solidFill>
              </a:rPr>
              <a:t>: Contains the country details which might indicate countries or regions.</a:t>
            </a:r>
            <a:endParaRPr sz="1100">
              <a:solidFill>
                <a:srgbClr val="000000"/>
              </a:solidFill>
            </a:endParaRPr>
          </a:p>
          <a:p>
            <a:pPr indent="-298450" lvl="0" marL="457200" rtl="0" algn="l">
              <a:spcBef>
                <a:spcPts val="0"/>
              </a:spcBef>
              <a:spcAft>
                <a:spcPts val="0"/>
              </a:spcAft>
              <a:buClr>
                <a:srgbClr val="000000"/>
              </a:buClr>
              <a:buSzPts val="1100"/>
              <a:buFont typeface="Arial"/>
              <a:buChar char="-"/>
            </a:pPr>
            <a:r>
              <a:rPr b="1" lang="es" sz="1100" u="sng">
                <a:solidFill>
                  <a:srgbClr val="000000"/>
                </a:solidFill>
              </a:rPr>
              <a:t>Date</a:t>
            </a:r>
            <a:r>
              <a:rPr lang="es" sz="1100">
                <a:solidFill>
                  <a:srgbClr val="000000"/>
                </a:solidFill>
              </a:rPr>
              <a:t>: Provides timing information, essential for temporal analysis.</a:t>
            </a:r>
            <a:endParaRPr sz="1100">
              <a:solidFill>
                <a:srgbClr val="000000"/>
              </a:solidFill>
            </a:endParaRPr>
          </a:p>
          <a:p>
            <a:pPr indent="-298450" lvl="0" marL="457200" rtl="0" algn="l">
              <a:spcBef>
                <a:spcPts val="0"/>
              </a:spcBef>
              <a:spcAft>
                <a:spcPts val="0"/>
              </a:spcAft>
              <a:buClr>
                <a:srgbClr val="000000"/>
              </a:buClr>
              <a:buSzPts val="1100"/>
              <a:buFont typeface="Arial"/>
              <a:buChar char="-"/>
            </a:pPr>
            <a:r>
              <a:rPr b="1" lang="es" sz="1100" u="sng">
                <a:solidFill>
                  <a:srgbClr val="000000"/>
                </a:solidFill>
              </a:rPr>
              <a:t>Activity</a:t>
            </a:r>
            <a:r>
              <a:rPr lang="es" sz="1100" u="sng">
                <a:solidFill>
                  <a:srgbClr val="000000"/>
                </a:solidFill>
              </a:rPr>
              <a:t>:</a:t>
            </a:r>
            <a:r>
              <a:rPr lang="es" sz="1100">
                <a:solidFill>
                  <a:srgbClr val="000000"/>
                </a:solidFill>
              </a:rPr>
              <a:t> Describes the actions being undertaken by individuals at the time of the attack.</a:t>
            </a:r>
            <a:endParaRPr sz="1100">
              <a:solidFill>
                <a:srgbClr val="000000"/>
              </a:solidFill>
            </a:endParaRPr>
          </a:p>
          <a:p>
            <a:pPr indent="-298450" lvl="0" marL="457200" rtl="0" algn="l">
              <a:spcBef>
                <a:spcPts val="0"/>
              </a:spcBef>
              <a:spcAft>
                <a:spcPts val="0"/>
              </a:spcAft>
              <a:buClr>
                <a:srgbClr val="000000"/>
              </a:buClr>
              <a:buSzPts val="1100"/>
              <a:buFont typeface="Arial"/>
              <a:buChar char="-"/>
            </a:pPr>
            <a:r>
              <a:rPr b="1" lang="es" sz="1100" u="sng">
                <a:solidFill>
                  <a:srgbClr val="000000"/>
                </a:solidFill>
              </a:rPr>
              <a:t>Fatal (Y/N)</a:t>
            </a:r>
            <a:r>
              <a:rPr lang="es" sz="1100">
                <a:solidFill>
                  <a:srgbClr val="000000"/>
                </a:solidFill>
              </a:rPr>
              <a:t>: Binary indicator of whether the attack was fatal, assisting in classifying attacks by severity.</a:t>
            </a:r>
            <a:endParaRPr b="1" sz="1100">
              <a:solidFill>
                <a:schemeClr val="dk2"/>
              </a:solidFill>
            </a:endParaRPr>
          </a:p>
          <a:p>
            <a:pPr indent="0" lvl="0" marL="0" rtl="0" algn="l">
              <a:spcBef>
                <a:spcPts val="1200"/>
              </a:spcBef>
              <a:spcAft>
                <a:spcPts val="0"/>
              </a:spcAft>
              <a:buNone/>
            </a:pPr>
            <a:r>
              <a:rPr b="1" lang="es" sz="1100">
                <a:solidFill>
                  <a:srgbClr val="000000"/>
                </a:solidFill>
              </a:rPr>
              <a:t>Initial Observations</a:t>
            </a:r>
            <a:r>
              <a:rPr lang="es" sz="1100">
                <a:solidFill>
                  <a:srgbClr val="000000"/>
                </a:solidFill>
              </a:rPr>
              <a:t>:</a:t>
            </a:r>
            <a:endParaRPr sz="1100">
              <a:solidFill>
                <a:srgbClr val="000000"/>
              </a:solidFill>
            </a:endParaRPr>
          </a:p>
          <a:p>
            <a:pPr indent="-298450" lvl="1" marL="914400" rtl="0" algn="l">
              <a:spcBef>
                <a:spcPts val="1200"/>
              </a:spcBef>
              <a:spcAft>
                <a:spcPts val="0"/>
              </a:spcAft>
              <a:buClr>
                <a:srgbClr val="000000"/>
              </a:buClr>
              <a:buSzPts val="1100"/>
              <a:buFont typeface="Lato"/>
              <a:buAutoNum type="alphaLcPeriod"/>
            </a:pPr>
            <a:r>
              <a:rPr lang="es">
                <a:solidFill>
                  <a:srgbClr val="000000"/>
                </a:solidFill>
              </a:rPr>
              <a:t>Comments on missing values, noticeable data anomalies, or interesting patterns during the initial dataset exploration.</a:t>
            </a:r>
            <a:endParaRPr>
              <a:solidFill>
                <a:srgbClr val="000000"/>
              </a:solidFill>
            </a:endParaRPr>
          </a:p>
          <a:p>
            <a:pPr indent="-298450" lvl="1" marL="914400" rtl="0" algn="l">
              <a:spcBef>
                <a:spcPts val="0"/>
              </a:spcBef>
              <a:spcAft>
                <a:spcPts val="0"/>
              </a:spcAft>
              <a:buClr>
                <a:srgbClr val="000000"/>
              </a:buClr>
              <a:buSzPts val="1100"/>
              <a:buFont typeface="Lato"/>
              <a:buAutoNum type="alphaLcPeriod"/>
            </a:pPr>
            <a:r>
              <a:rPr lang="es">
                <a:solidFill>
                  <a:srgbClr val="000000"/>
                </a:solidFill>
              </a:rPr>
              <a:t>Mention any pre-existing categorizations or notable fields like seasonal adjustments or regional breaks.</a:t>
            </a:r>
            <a:endParaRPr b="1">
              <a:solidFill>
                <a:schemeClr val="dk2"/>
              </a:solidFill>
            </a:endParaRPr>
          </a:p>
          <a:p>
            <a:pPr indent="0" lvl="0" marL="0" rtl="0" algn="l">
              <a:spcBef>
                <a:spcPts val="1200"/>
              </a:spcBef>
              <a:spcAft>
                <a:spcPts val="0"/>
              </a:spcAft>
              <a:buNone/>
            </a:pPr>
            <a:r>
              <a:t/>
            </a:r>
            <a:endParaRPr b="1" sz="1200">
              <a:solidFill>
                <a:schemeClr val="accent3"/>
              </a:solidFill>
            </a:endParaRPr>
          </a:p>
          <a:p>
            <a:pPr indent="0" lvl="0" marL="0" rtl="0" algn="l">
              <a:spcBef>
                <a:spcPts val="1200"/>
              </a:spcBef>
              <a:spcAft>
                <a:spcPts val="0"/>
              </a:spcAft>
              <a:buNone/>
            </a:pPr>
            <a:r>
              <a:t/>
            </a:r>
            <a:endParaRPr sz="1400">
              <a:solidFill>
                <a:schemeClr val="dk2"/>
              </a:solidFill>
            </a:endParaRPr>
          </a:p>
          <a:p>
            <a:pPr indent="0" lvl="0" marL="0" rtl="0" algn="l">
              <a:lnSpc>
                <a:spcPct val="100000"/>
              </a:lnSpc>
              <a:spcBef>
                <a:spcPts val="1200"/>
              </a:spcBef>
              <a:spcAft>
                <a:spcPts val="0"/>
              </a:spcAft>
              <a:buNone/>
            </a:pPr>
            <a:r>
              <a:t/>
            </a:r>
            <a:endParaRPr sz="1400">
              <a:solidFill>
                <a:schemeClr val="dk2"/>
              </a:solidFill>
            </a:endParaRPr>
          </a:p>
          <a:p>
            <a:pPr indent="0" lvl="0" marL="0" rtl="0" algn="l">
              <a:lnSpc>
                <a:spcPct val="100000"/>
              </a:lnSpc>
              <a:spcBef>
                <a:spcPts val="1200"/>
              </a:spcBef>
              <a:spcAft>
                <a:spcPts val="0"/>
              </a:spcAft>
              <a:buNone/>
            </a:pPr>
            <a:r>
              <a:t/>
            </a:r>
            <a:endParaRPr b="1" sz="1400">
              <a:solidFill>
                <a:schemeClr val="dk2"/>
              </a:solidFill>
            </a:endParaRPr>
          </a:p>
          <a:p>
            <a:pPr indent="0" lvl="0" marL="457200" rtl="0" algn="l">
              <a:lnSpc>
                <a:spcPct val="115000"/>
              </a:lnSpc>
              <a:spcBef>
                <a:spcPts val="1200"/>
              </a:spcBef>
              <a:spcAft>
                <a:spcPts val="0"/>
              </a:spcAft>
              <a:buNone/>
            </a:pPr>
            <a:r>
              <a:t/>
            </a:r>
            <a:endParaRPr sz="1400">
              <a:solidFill>
                <a:schemeClr val="dk2"/>
              </a:solidFill>
            </a:endParaRPr>
          </a:p>
          <a:p>
            <a:pPr indent="0" lvl="0" marL="0" rtl="0" algn="l">
              <a:spcBef>
                <a:spcPts val="0"/>
              </a:spcBef>
              <a:spcAft>
                <a:spcPts val="1200"/>
              </a:spcAft>
              <a:buNone/>
            </a:pPr>
            <a:r>
              <a:t/>
            </a:r>
            <a:endParaRPr sz="1500">
              <a:solidFill>
                <a:schemeClr val="dk2"/>
              </a:solidFill>
            </a:endParaRPr>
          </a:p>
        </p:txBody>
      </p:sp>
      <p:sp>
        <p:nvSpPr>
          <p:cNvPr id="96" name="Google Shape;96;p1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102" name="Google Shape;102;p15"/>
          <p:cNvSpPr/>
          <p:nvPr/>
        </p:nvSpPr>
        <p:spPr>
          <a:xfrm>
            <a:off x="563025" y="973675"/>
            <a:ext cx="1269900" cy="393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3" name="Google Shape;103;p15"/>
          <p:cNvSpPr txBox="1"/>
          <p:nvPr>
            <p:ph idx="1" type="body"/>
          </p:nvPr>
        </p:nvSpPr>
        <p:spPr>
          <a:xfrm>
            <a:off x="563025" y="1079500"/>
            <a:ext cx="8620500" cy="3834900"/>
          </a:xfrm>
          <a:prstGeom prst="rect">
            <a:avLst/>
          </a:prstGeom>
        </p:spPr>
        <p:txBody>
          <a:bodyPr anchorCtr="0" anchor="t" bIns="91425" lIns="91425" spcFirstLastPara="1" rIns="91425" wrap="square" tIns="91425">
            <a:noAutofit/>
          </a:bodyPr>
          <a:lstStyle/>
          <a:p>
            <a:pPr indent="0" lvl="0" marL="0" rtl="0" algn="l">
              <a:lnSpc>
                <a:spcPct val="100000"/>
              </a:lnSpc>
              <a:spcBef>
                <a:spcPts val="400"/>
              </a:spcBef>
              <a:spcAft>
                <a:spcPts val="0"/>
              </a:spcAft>
              <a:buNone/>
            </a:pPr>
            <a:r>
              <a:rPr b="1" lang="es" sz="1200">
                <a:solidFill>
                  <a:schemeClr val="accent3"/>
                </a:solidFill>
              </a:rPr>
              <a:t>Hypothesis 1: According to the regular news, there are many  shark attacks in Australia.</a:t>
            </a:r>
            <a:endParaRPr b="1" sz="1200">
              <a:solidFill>
                <a:schemeClr val="accent3"/>
              </a:solidFill>
            </a:endParaRPr>
          </a:p>
          <a:p>
            <a:pPr indent="0" lvl="0" marL="0" rtl="0" algn="l">
              <a:lnSpc>
                <a:spcPct val="100000"/>
              </a:lnSpc>
              <a:spcBef>
                <a:spcPts val="400"/>
              </a:spcBef>
              <a:spcAft>
                <a:spcPts val="0"/>
              </a:spcAft>
              <a:buNone/>
            </a:pPr>
            <a:r>
              <a:rPr b="1" lang="es" sz="1200">
                <a:solidFill>
                  <a:schemeClr val="accent3"/>
                </a:solidFill>
              </a:rPr>
              <a:t>Hypothesis 2: There are more shark attacks during the summer in Australia, with a higher number Fatal cases.</a:t>
            </a:r>
            <a:endParaRPr b="1" sz="1200">
              <a:solidFill>
                <a:schemeClr val="accent3"/>
              </a:solidFill>
            </a:endParaRPr>
          </a:p>
          <a:p>
            <a:pPr indent="0" lvl="0" marL="0" rtl="0" algn="l">
              <a:spcBef>
                <a:spcPts val="1400"/>
              </a:spcBef>
              <a:spcAft>
                <a:spcPts val="0"/>
              </a:spcAft>
              <a:buNone/>
            </a:pPr>
            <a:r>
              <a:rPr b="1" lang="es" sz="900">
                <a:solidFill>
                  <a:srgbClr val="000000"/>
                </a:solidFill>
              </a:rPr>
              <a:t>Research Objectives:</a:t>
            </a:r>
            <a:endParaRPr b="1" sz="900">
              <a:solidFill>
                <a:srgbClr val="000000"/>
              </a:solidFill>
            </a:endParaRPr>
          </a:p>
          <a:p>
            <a:pPr indent="-285750" lvl="0" marL="457200" rtl="0" algn="l">
              <a:spcBef>
                <a:spcPts val="1200"/>
              </a:spcBef>
              <a:spcAft>
                <a:spcPts val="0"/>
              </a:spcAft>
              <a:buClr>
                <a:srgbClr val="000000"/>
              </a:buClr>
              <a:buSzPts val="900"/>
              <a:buChar char="-"/>
            </a:pPr>
            <a:r>
              <a:rPr lang="es" sz="900">
                <a:solidFill>
                  <a:srgbClr val="000000"/>
                </a:solidFill>
              </a:rPr>
              <a:t>Analyze shark attack frequency by country                                                                               df["Country"].value_counts()</a:t>
            </a:r>
            <a:endParaRPr sz="900">
              <a:solidFill>
                <a:srgbClr val="000000"/>
              </a:solidFill>
            </a:endParaRPr>
          </a:p>
          <a:p>
            <a:pPr indent="-285750" lvl="0" marL="457200" rtl="0" algn="l">
              <a:spcBef>
                <a:spcPts val="0"/>
              </a:spcBef>
              <a:spcAft>
                <a:spcPts val="0"/>
              </a:spcAft>
              <a:buClr>
                <a:srgbClr val="000000"/>
              </a:buClr>
              <a:buSzPts val="900"/>
              <a:buChar char="-"/>
            </a:pPr>
            <a:r>
              <a:rPr lang="es" sz="900">
                <a:solidFill>
                  <a:srgbClr val="000000"/>
                </a:solidFill>
              </a:rPr>
              <a:t>Focus mostly on Australia                                                                                                                     df_aus = df[df["Country"] == "Australia"]</a:t>
            </a:r>
            <a:endParaRPr sz="900">
              <a:solidFill>
                <a:srgbClr val="000000"/>
              </a:solidFill>
            </a:endParaRPr>
          </a:p>
          <a:p>
            <a:pPr indent="-285750" lvl="0" marL="457200" rtl="0" algn="l">
              <a:spcBef>
                <a:spcPts val="0"/>
              </a:spcBef>
              <a:spcAft>
                <a:spcPts val="0"/>
              </a:spcAft>
              <a:buClr>
                <a:srgbClr val="000000"/>
              </a:buClr>
              <a:buSzPts val="900"/>
              <a:buChar char="-"/>
            </a:pPr>
            <a:r>
              <a:rPr lang="es" sz="900">
                <a:solidFill>
                  <a:srgbClr val="000000"/>
                </a:solidFill>
              </a:rPr>
              <a:t>Examine seasonality (month)                                                                                                              df["Date_clean"] = pd.to_datetime(df["Date"], errors="coerce")</a:t>
            </a:r>
            <a:endParaRPr sz="900">
              <a:solidFill>
                <a:srgbClr val="000000"/>
              </a:solidFill>
            </a:endParaRPr>
          </a:p>
          <a:p>
            <a:pPr indent="-285750" lvl="0" marL="457200" rtl="0" algn="l">
              <a:spcBef>
                <a:spcPts val="0"/>
              </a:spcBef>
              <a:spcAft>
                <a:spcPts val="0"/>
              </a:spcAft>
              <a:buClr>
                <a:srgbClr val="000000"/>
              </a:buClr>
              <a:buSzPts val="900"/>
              <a:buChar char="-"/>
            </a:pPr>
            <a:r>
              <a:rPr lang="es" sz="900">
                <a:solidFill>
                  <a:srgbClr val="000000"/>
                </a:solidFill>
              </a:rPr>
              <a:t>Investigate relationship between activity and fatal outcomes                                        df["Fatal_clean"] = df["Fatal"].str.strip().str.uppe</a:t>
            </a:r>
            <a:r>
              <a:rPr lang="es" sz="900">
                <a:solidFill>
                  <a:srgbClr val="000000"/>
                </a:solidFill>
              </a:rPr>
              <a:t>r()</a:t>
            </a:r>
            <a:endParaRPr sz="900">
              <a:solidFill>
                <a:srgbClr val="000000"/>
              </a:solidFill>
            </a:endParaRPr>
          </a:p>
          <a:p>
            <a:pPr indent="-285750" lvl="0" marL="457200" rtl="0" algn="l">
              <a:spcBef>
                <a:spcPts val="0"/>
              </a:spcBef>
              <a:spcAft>
                <a:spcPts val="0"/>
              </a:spcAft>
              <a:buClr>
                <a:srgbClr val="000000"/>
              </a:buClr>
              <a:buSzPts val="900"/>
              <a:buChar char="-"/>
            </a:pPr>
            <a:r>
              <a:rPr lang="es" sz="900">
                <a:solidFill>
                  <a:srgbClr val="000000"/>
                </a:solidFill>
              </a:rPr>
              <a:t>Evaluate whether surfing is associated with higher attack frequency                       surf_cases = df_aus[df_aus["Activity_clean"].str.contains("surf", na=False)]</a:t>
            </a:r>
            <a:endParaRPr sz="1200">
              <a:solidFill>
                <a:srgbClr val="000000"/>
              </a:solidFill>
            </a:endParaRPr>
          </a:p>
          <a:p>
            <a:pPr indent="0" lvl="0" marL="0" rtl="0" algn="just">
              <a:spcBef>
                <a:spcPts val="1200"/>
              </a:spcBef>
              <a:spcAft>
                <a:spcPts val="0"/>
              </a:spcAft>
              <a:buNone/>
            </a:pPr>
            <a:r>
              <a:rPr b="1" lang="es" sz="900">
                <a:solidFill>
                  <a:schemeClr val="dk2"/>
                </a:solidFill>
              </a:rPr>
              <a:t>Media reports often highlight Australia as:</a:t>
            </a:r>
            <a:endParaRPr b="1" sz="900">
              <a:solidFill>
                <a:schemeClr val="dk2"/>
              </a:solidFill>
            </a:endParaRPr>
          </a:p>
          <a:p>
            <a:pPr indent="-285750" lvl="0" marL="457200" rtl="0" algn="just">
              <a:spcBef>
                <a:spcPts val="1200"/>
              </a:spcBef>
              <a:spcAft>
                <a:spcPts val="0"/>
              </a:spcAft>
              <a:buClr>
                <a:srgbClr val="000000"/>
              </a:buClr>
              <a:buSzPts val="900"/>
              <a:buChar char="-"/>
            </a:pPr>
            <a:r>
              <a:rPr lang="es" sz="900">
                <a:solidFill>
                  <a:srgbClr val="000000"/>
                </a:solidFill>
              </a:rPr>
              <a:t>A hotspot for shark attacks</a:t>
            </a:r>
            <a:endParaRPr sz="900">
              <a:solidFill>
                <a:srgbClr val="000000"/>
              </a:solidFill>
            </a:endParaRPr>
          </a:p>
          <a:p>
            <a:pPr indent="-285750" lvl="0" marL="457200" rtl="0" algn="just">
              <a:spcBef>
                <a:spcPts val="0"/>
              </a:spcBef>
              <a:spcAft>
                <a:spcPts val="0"/>
              </a:spcAft>
              <a:buClr>
                <a:srgbClr val="000000"/>
              </a:buClr>
              <a:buSzPts val="900"/>
              <a:buChar char="-"/>
            </a:pPr>
            <a:r>
              <a:rPr lang="es" sz="900">
                <a:solidFill>
                  <a:srgbClr val="000000"/>
                </a:solidFill>
              </a:rPr>
              <a:t>A country with high surfing activity</a:t>
            </a:r>
            <a:endParaRPr sz="900">
              <a:solidFill>
                <a:srgbClr val="000000"/>
              </a:solidFill>
            </a:endParaRPr>
          </a:p>
          <a:p>
            <a:pPr indent="-279400" lvl="0" marL="457200" rtl="0" algn="just">
              <a:lnSpc>
                <a:spcPct val="100000"/>
              </a:lnSpc>
              <a:spcBef>
                <a:spcPts val="0"/>
              </a:spcBef>
              <a:spcAft>
                <a:spcPts val="0"/>
              </a:spcAft>
              <a:buClr>
                <a:srgbClr val="000000"/>
              </a:buClr>
              <a:buSzPts val="800"/>
              <a:buChar char="-"/>
            </a:pPr>
            <a:r>
              <a:rPr lang="es" sz="900">
                <a:solidFill>
                  <a:srgbClr val="000000"/>
                </a:solidFill>
              </a:rPr>
              <a:t>A region with dangerous shark species and igh number of fatal accidents</a:t>
            </a:r>
            <a:endParaRPr sz="800">
              <a:solidFill>
                <a:srgbClr val="000000"/>
              </a:solidFill>
            </a:endParaRPr>
          </a:p>
          <a:p>
            <a:pPr indent="0" lvl="0" marL="0" rtl="0" algn="just">
              <a:lnSpc>
                <a:spcPct val="100000"/>
              </a:lnSpc>
              <a:spcBef>
                <a:spcPts val="1200"/>
              </a:spcBef>
              <a:spcAft>
                <a:spcPts val="0"/>
              </a:spcAft>
              <a:buNone/>
            </a:pPr>
            <a:r>
              <a:rPr b="1" lang="es" sz="900">
                <a:solidFill>
                  <a:srgbClr val="000000"/>
                </a:solidFill>
              </a:rPr>
              <a:t>Analytical Approach:</a:t>
            </a:r>
            <a:endParaRPr b="1" sz="900">
              <a:solidFill>
                <a:srgbClr val="000000"/>
              </a:solidFill>
            </a:endParaRPr>
          </a:p>
          <a:p>
            <a:pPr indent="-285750" lvl="0" marL="457200" rtl="0" algn="just">
              <a:spcBef>
                <a:spcPts val="1400"/>
              </a:spcBef>
              <a:spcAft>
                <a:spcPts val="0"/>
              </a:spcAft>
              <a:buClr>
                <a:srgbClr val="000000"/>
              </a:buClr>
              <a:buSzPts val="900"/>
              <a:buChar char="-"/>
            </a:pPr>
            <a:r>
              <a:rPr lang="es" sz="900">
                <a:solidFill>
                  <a:srgbClr val="000000"/>
                </a:solidFill>
              </a:rPr>
              <a:t>Filter dataset for Australia                                                                                                                        df_aus = df[df["Country"] == "Australia"]</a:t>
            </a:r>
            <a:endParaRPr sz="900">
              <a:solidFill>
                <a:srgbClr val="000000"/>
              </a:solidFill>
            </a:endParaRPr>
          </a:p>
          <a:p>
            <a:pPr indent="-285750" lvl="0" marL="457200" rtl="0" algn="just">
              <a:spcBef>
                <a:spcPts val="0"/>
              </a:spcBef>
              <a:spcAft>
                <a:spcPts val="0"/>
              </a:spcAft>
              <a:buClr>
                <a:srgbClr val="000000"/>
              </a:buClr>
              <a:buSzPts val="900"/>
              <a:buChar char="-"/>
            </a:pPr>
            <a:r>
              <a:rPr lang="es" sz="900">
                <a:solidFill>
                  <a:srgbClr val="000000"/>
                </a:solidFill>
              </a:rPr>
              <a:t>Compare total cases with other countries                                                                                       df["Country"].value_counts().head(10)</a:t>
            </a:r>
            <a:endParaRPr sz="900">
              <a:solidFill>
                <a:srgbClr val="000000"/>
              </a:solidFill>
            </a:endParaRPr>
          </a:p>
          <a:p>
            <a:pPr indent="-285750" lvl="0" marL="457200" rtl="0" algn="just">
              <a:spcBef>
                <a:spcPts val="0"/>
              </a:spcBef>
              <a:spcAft>
                <a:spcPts val="0"/>
              </a:spcAft>
              <a:buClr>
                <a:srgbClr val="000000"/>
              </a:buClr>
              <a:buSzPts val="900"/>
              <a:buChar char="-"/>
            </a:pPr>
            <a:r>
              <a:rPr lang="es" sz="900">
                <a:solidFill>
                  <a:srgbClr val="000000"/>
                </a:solidFill>
              </a:rPr>
              <a:t>Analyze distribution of cases over the course  of the year                                                     df["Year"] = df["Date_clean"].dt.year</a:t>
            </a:r>
            <a:endParaRPr sz="800">
              <a:solidFill>
                <a:srgbClr val="000000"/>
              </a:solidFill>
            </a:endParaRPr>
          </a:p>
          <a:p>
            <a:pPr indent="0" lvl="0" marL="457200" rtl="0" algn="l">
              <a:spcBef>
                <a:spcPts val="1400"/>
              </a:spcBef>
              <a:spcAft>
                <a:spcPts val="0"/>
              </a:spcAft>
              <a:buNone/>
            </a:pPr>
            <a:r>
              <a:t/>
            </a:r>
            <a:endParaRPr sz="800">
              <a:solidFill>
                <a:srgbClr val="000000"/>
              </a:solidFill>
            </a:endParaRPr>
          </a:p>
          <a:p>
            <a:pPr indent="0" lvl="0" marL="0" rtl="0" algn="l">
              <a:spcBef>
                <a:spcPts val="1400"/>
              </a:spcBef>
              <a:spcAft>
                <a:spcPts val="0"/>
              </a:spcAft>
              <a:buNone/>
            </a:pPr>
            <a:r>
              <a:t/>
            </a:r>
            <a:endParaRPr sz="800">
              <a:solidFill>
                <a:srgbClr val="000000"/>
              </a:solidFill>
            </a:endParaRPr>
          </a:p>
          <a:p>
            <a:pPr indent="0" lvl="0" marL="457200" rtl="0" algn="l">
              <a:spcBef>
                <a:spcPts val="1200"/>
              </a:spcBef>
              <a:spcAft>
                <a:spcPts val="0"/>
              </a:spcAft>
              <a:buNone/>
            </a:pPr>
            <a:r>
              <a:t/>
            </a:r>
            <a:endParaRPr sz="1100">
              <a:solidFill>
                <a:srgbClr val="000000"/>
              </a:solidFill>
            </a:endParaRPr>
          </a:p>
          <a:p>
            <a:pPr indent="0" lvl="0" marL="0" rtl="0" algn="l">
              <a:lnSpc>
                <a:spcPct val="100000"/>
              </a:lnSpc>
              <a:spcBef>
                <a:spcPts val="1200"/>
              </a:spcBef>
              <a:spcAft>
                <a:spcPts val="0"/>
              </a:spcAft>
              <a:buNone/>
            </a:pPr>
            <a:r>
              <a:t/>
            </a:r>
            <a:endParaRPr sz="1000">
              <a:solidFill>
                <a:schemeClr val="dk1"/>
              </a:solidFill>
            </a:endParaRPr>
          </a:p>
          <a:p>
            <a:pPr indent="0" lvl="0" marL="457200" rtl="0" algn="l">
              <a:lnSpc>
                <a:spcPct val="115000"/>
              </a:lnSpc>
              <a:spcBef>
                <a:spcPts val="1200"/>
              </a:spcBef>
              <a:spcAft>
                <a:spcPts val="0"/>
              </a:spcAft>
              <a:buNone/>
            </a:pPr>
            <a:r>
              <a:t/>
            </a:r>
            <a:endParaRPr sz="1000">
              <a:solidFill>
                <a:schemeClr val="dk1"/>
              </a:solidFill>
            </a:endParaRPr>
          </a:p>
          <a:p>
            <a:pPr indent="0" lvl="0" marL="0" rtl="0" algn="l">
              <a:spcBef>
                <a:spcPts val="0"/>
              </a:spcBef>
              <a:spcAft>
                <a:spcPts val="1200"/>
              </a:spcAft>
              <a:buNone/>
            </a:pPr>
            <a:r>
              <a:t/>
            </a:r>
            <a:endParaRPr sz="1000"/>
          </a:p>
        </p:txBody>
      </p:sp>
      <p:sp>
        <p:nvSpPr>
          <p:cNvPr id="104" name="Google Shape;104;p15"/>
          <p:cNvSpPr txBox="1"/>
          <p:nvPr>
            <p:ph type="title"/>
          </p:nvPr>
        </p:nvSpPr>
        <p:spPr>
          <a:xfrm>
            <a:off x="703225" y="570250"/>
            <a:ext cx="8006100" cy="564300"/>
          </a:xfrm>
          <a:prstGeom prst="rect">
            <a:avLst/>
          </a:prstGeom>
        </p:spPr>
        <p:txBody>
          <a:bodyPr anchorCtr="0" anchor="t" bIns="91425" lIns="91425" spcFirstLastPara="1" rIns="91425" wrap="square" tIns="91425">
            <a:normAutofit fontScale="90000"/>
          </a:bodyPr>
          <a:lstStyle/>
          <a:p>
            <a:pPr indent="-377190" lvl="0" marL="457200" rtl="0" algn="l">
              <a:spcBef>
                <a:spcPts val="0"/>
              </a:spcBef>
              <a:spcAft>
                <a:spcPts val="0"/>
              </a:spcAft>
              <a:buClr>
                <a:schemeClr val="dk1"/>
              </a:buClr>
              <a:buSzPct val="100000"/>
              <a:buAutoNum type="arabicPeriod"/>
            </a:pPr>
            <a:r>
              <a:rPr lang="es">
                <a:solidFill>
                  <a:schemeClr val="dk1"/>
                </a:solidFill>
              </a:rPr>
              <a:t>Project Overview</a:t>
            </a:r>
            <a:endParaRPr>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6"/>
          <p:cNvSpPr txBox="1"/>
          <p:nvPr>
            <p:ph type="title"/>
          </p:nvPr>
        </p:nvSpPr>
        <p:spPr>
          <a:xfrm>
            <a:off x="720675" y="580650"/>
            <a:ext cx="7346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solidFill>
                  <a:schemeClr val="dk1"/>
                </a:solidFill>
              </a:rPr>
              <a:t>2. Data Wrangling and Cleaning</a:t>
            </a:r>
            <a:endParaRPr>
              <a:solidFill>
                <a:schemeClr val="dk1"/>
              </a:solidFill>
            </a:endParaRPr>
          </a:p>
        </p:txBody>
      </p:sp>
      <p:sp>
        <p:nvSpPr>
          <p:cNvPr id="110" name="Google Shape;110;p16"/>
          <p:cNvSpPr txBox="1"/>
          <p:nvPr>
            <p:ph idx="1" type="body"/>
          </p:nvPr>
        </p:nvSpPr>
        <p:spPr>
          <a:xfrm>
            <a:off x="720675" y="1137129"/>
            <a:ext cx="5037900" cy="3416400"/>
          </a:xfrm>
          <a:prstGeom prst="rect">
            <a:avLst/>
          </a:prstGeom>
          <a:solidFill>
            <a:schemeClr val="lt1"/>
          </a:solidFill>
        </p:spPr>
        <p:txBody>
          <a:bodyPr anchorCtr="0" anchor="t" bIns="91425" lIns="91425" spcFirstLastPara="1" rIns="91425" wrap="square" tIns="91425">
            <a:normAutofit fontScale="25000" lnSpcReduction="20000"/>
          </a:bodyPr>
          <a:lstStyle/>
          <a:p>
            <a:pPr indent="0" lvl="0" marL="0" rtl="0" algn="l">
              <a:lnSpc>
                <a:spcPct val="100000"/>
              </a:lnSpc>
              <a:spcBef>
                <a:spcPts val="1000"/>
              </a:spcBef>
              <a:spcAft>
                <a:spcPts val="0"/>
              </a:spcAft>
              <a:buClr>
                <a:schemeClr val="dk1"/>
              </a:buClr>
              <a:buSzPts val="275"/>
              <a:buFont typeface="Arial"/>
              <a:buNone/>
            </a:pPr>
            <a:r>
              <a:rPr b="1" lang="es" sz="4800">
                <a:solidFill>
                  <a:schemeClr val="dk2"/>
                </a:solidFill>
              </a:rPr>
              <a:t>Date</a:t>
            </a:r>
            <a:endParaRPr b="1" sz="4800">
              <a:solidFill>
                <a:schemeClr val="dk2"/>
              </a:solidFill>
            </a:endParaRPr>
          </a:p>
          <a:p>
            <a:pPr indent="0" lvl="0" marL="450000" rtl="0" algn="l">
              <a:lnSpc>
                <a:spcPct val="100000"/>
              </a:lnSpc>
              <a:spcBef>
                <a:spcPts val="1000"/>
              </a:spcBef>
              <a:spcAft>
                <a:spcPts val="0"/>
              </a:spcAft>
              <a:buClr>
                <a:schemeClr val="dk1"/>
              </a:buClr>
              <a:buSzPts val="275"/>
              <a:buFont typeface="Arial"/>
              <a:buNone/>
            </a:pPr>
            <a:r>
              <a:rPr b="1" lang="es" sz="4800">
                <a:solidFill>
                  <a:schemeClr val="accent3"/>
                </a:solidFill>
              </a:rPr>
              <a:t>Challenge</a:t>
            </a:r>
            <a:endParaRPr b="1" sz="4800">
              <a:solidFill>
                <a:schemeClr val="accent3"/>
              </a:solidFill>
            </a:endParaRPr>
          </a:p>
          <a:p>
            <a:pPr indent="-304800" lvl="0" marL="457200" rtl="0" algn="l">
              <a:lnSpc>
                <a:spcPct val="115000"/>
              </a:lnSpc>
              <a:spcBef>
                <a:spcPts val="400"/>
              </a:spcBef>
              <a:spcAft>
                <a:spcPts val="0"/>
              </a:spcAft>
              <a:buClr>
                <a:schemeClr val="dk2"/>
              </a:buClr>
              <a:buSzPct val="100000"/>
              <a:buChar char="●"/>
            </a:pPr>
            <a:r>
              <a:rPr lang="es" sz="4800">
                <a:solidFill>
                  <a:schemeClr val="dk2"/>
                </a:solidFill>
              </a:rPr>
              <a:t>The date column contains multiple inconsistent formats (only year or suffixes, ex.: 1st, 2nd, 3rd, 5th).</a:t>
            </a:r>
            <a:endParaRPr sz="4800">
              <a:solidFill>
                <a:schemeClr val="dk2"/>
              </a:solidFill>
            </a:endParaRPr>
          </a:p>
          <a:p>
            <a:pPr indent="0" lvl="0" marL="457200" rtl="0" algn="l">
              <a:lnSpc>
                <a:spcPct val="115000"/>
              </a:lnSpc>
              <a:spcBef>
                <a:spcPts val="1000"/>
              </a:spcBef>
              <a:spcAft>
                <a:spcPts val="0"/>
              </a:spcAft>
              <a:buNone/>
            </a:pPr>
            <a:r>
              <a:rPr b="1" lang="es" sz="4800">
                <a:solidFill>
                  <a:schemeClr val="dk1"/>
                </a:solidFill>
              </a:rPr>
              <a:t>Solution</a:t>
            </a:r>
            <a:endParaRPr b="1" sz="4800">
              <a:solidFill>
                <a:schemeClr val="dk1"/>
              </a:solidFill>
            </a:endParaRPr>
          </a:p>
          <a:p>
            <a:pPr indent="-304800" lvl="0" marL="457200" rtl="0" algn="l">
              <a:lnSpc>
                <a:spcPct val="115000"/>
              </a:lnSpc>
              <a:spcBef>
                <a:spcPts val="400"/>
              </a:spcBef>
              <a:spcAft>
                <a:spcPts val="0"/>
              </a:spcAft>
              <a:buClr>
                <a:schemeClr val="dk2"/>
              </a:buClr>
              <a:buSzPct val="100000"/>
              <a:buChar char="●"/>
            </a:pPr>
            <a:r>
              <a:rPr lang="es" sz="4800">
                <a:solidFill>
                  <a:schemeClr val="dk2"/>
                </a:solidFill>
              </a:rPr>
              <a:t>Use</a:t>
            </a:r>
            <a:r>
              <a:rPr lang="es" sz="4800">
                <a:solidFill>
                  <a:schemeClr val="dk2"/>
                </a:solidFill>
                <a:latin typeface="Roboto"/>
                <a:ea typeface="Roboto"/>
                <a:cs typeface="Roboto"/>
                <a:sym typeface="Roboto"/>
              </a:rPr>
              <a:t> </a:t>
            </a:r>
            <a:r>
              <a:rPr b="1" lang="es" sz="4800">
                <a:solidFill>
                  <a:schemeClr val="dk1"/>
                </a:solidFill>
                <a:latin typeface="Roboto"/>
                <a:ea typeface="Roboto"/>
                <a:cs typeface="Roboto"/>
                <a:sym typeface="Roboto"/>
              </a:rPr>
              <a:t>regex </a:t>
            </a:r>
            <a:r>
              <a:rPr lang="es" sz="4800">
                <a:solidFill>
                  <a:schemeClr val="dk2"/>
                </a:solidFill>
              </a:rPr>
              <a:t>method to remove the suffix and keep only the number.</a:t>
            </a:r>
            <a:endParaRPr sz="4800">
              <a:solidFill>
                <a:schemeClr val="dk2"/>
              </a:solidFill>
            </a:endParaRPr>
          </a:p>
          <a:p>
            <a:pPr indent="-304800" lvl="0" marL="457200" rtl="0" algn="l">
              <a:lnSpc>
                <a:spcPct val="115000"/>
              </a:lnSpc>
              <a:spcBef>
                <a:spcPts val="0"/>
              </a:spcBef>
              <a:spcAft>
                <a:spcPts val="0"/>
              </a:spcAft>
              <a:buClr>
                <a:schemeClr val="dk2"/>
              </a:buClr>
              <a:buSzPct val="100000"/>
              <a:buChar char="●"/>
            </a:pPr>
            <a:r>
              <a:rPr lang="es" sz="4800">
                <a:solidFill>
                  <a:schemeClr val="dk2"/>
                </a:solidFill>
              </a:rPr>
              <a:t>Convert all date values to a standardized </a:t>
            </a:r>
            <a:r>
              <a:rPr b="1" lang="es" sz="4800">
                <a:solidFill>
                  <a:schemeClr val="dk1"/>
                </a:solidFill>
                <a:latin typeface="Roboto"/>
                <a:ea typeface="Roboto"/>
                <a:cs typeface="Roboto"/>
                <a:sym typeface="Roboto"/>
              </a:rPr>
              <a:t>datetime</a:t>
            </a:r>
            <a:r>
              <a:rPr lang="es" sz="4800">
                <a:solidFill>
                  <a:schemeClr val="dk2"/>
                </a:solidFill>
              </a:rPr>
              <a:t> format.</a:t>
            </a:r>
            <a:endParaRPr sz="4800">
              <a:solidFill>
                <a:schemeClr val="dk2"/>
              </a:solidFill>
            </a:endParaRPr>
          </a:p>
          <a:p>
            <a:pPr indent="0" lvl="0" marL="0" rtl="0" algn="l">
              <a:lnSpc>
                <a:spcPct val="100000"/>
              </a:lnSpc>
              <a:spcBef>
                <a:spcPts val="1400"/>
              </a:spcBef>
              <a:spcAft>
                <a:spcPts val="0"/>
              </a:spcAft>
              <a:buClr>
                <a:schemeClr val="dk1"/>
              </a:buClr>
              <a:buSzPts val="275"/>
              <a:buFont typeface="Arial"/>
              <a:buNone/>
            </a:pPr>
            <a:r>
              <a:rPr b="1" lang="es" sz="4800">
                <a:solidFill>
                  <a:schemeClr val="dk2"/>
                </a:solidFill>
              </a:rPr>
              <a:t>Country</a:t>
            </a:r>
            <a:endParaRPr b="1" sz="4800">
              <a:solidFill>
                <a:schemeClr val="dk2"/>
              </a:solidFill>
            </a:endParaRPr>
          </a:p>
          <a:p>
            <a:pPr indent="0" lvl="0" marL="457200" rtl="0" algn="l">
              <a:lnSpc>
                <a:spcPct val="115000"/>
              </a:lnSpc>
              <a:spcBef>
                <a:spcPts val="1000"/>
              </a:spcBef>
              <a:spcAft>
                <a:spcPts val="0"/>
              </a:spcAft>
              <a:buNone/>
            </a:pPr>
            <a:r>
              <a:rPr b="1" lang="es" sz="4800">
                <a:solidFill>
                  <a:schemeClr val="accent3"/>
                </a:solidFill>
              </a:rPr>
              <a:t>Challenge</a:t>
            </a:r>
            <a:endParaRPr b="1" sz="4800">
              <a:solidFill>
                <a:schemeClr val="accent3"/>
              </a:solidFill>
            </a:endParaRPr>
          </a:p>
          <a:p>
            <a:pPr indent="-304800" lvl="0" marL="457200" rtl="0" algn="l">
              <a:spcBef>
                <a:spcPts val="400"/>
              </a:spcBef>
              <a:spcAft>
                <a:spcPts val="0"/>
              </a:spcAft>
              <a:buClr>
                <a:schemeClr val="dk2"/>
              </a:buClr>
              <a:buSzPct val="100000"/>
              <a:buChar char="●"/>
            </a:pPr>
            <a:r>
              <a:rPr lang="es" sz="4800">
                <a:solidFill>
                  <a:schemeClr val="dk2"/>
                </a:solidFill>
              </a:rPr>
              <a:t>Correct countries with multiple naming variations and exclude the territories that are not countries. </a:t>
            </a:r>
            <a:endParaRPr sz="4800">
              <a:solidFill>
                <a:schemeClr val="dk2"/>
              </a:solidFill>
            </a:endParaRPr>
          </a:p>
          <a:p>
            <a:pPr indent="0" lvl="0" marL="457200" rtl="0" algn="l">
              <a:lnSpc>
                <a:spcPct val="115000"/>
              </a:lnSpc>
              <a:spcBef>
                <a:spcPts val="1000"/>
              </a:spcBef>
              <a:spcAft>
                <a:spcPts val="0"/>
              </a:spcAft>
              <a:buNone/>
            </a:pPr>
            <a:r>
              <a:rPr b="1" lang="es" sz="4800">
                <a:solidFill>
                  <a:schemeClr val="dk1"/>
                </a:solidFill>
              </a:rPr>
              <a:t>Solution</a:t>
            </a:r>
            <a:endParaRPr b="1" sz="4800">
              <a:solidFill>
                <a:schemeClr val="dk1"/>
              </a:solidFill>
            </a:endParaRPr>
          </a:p>
          <a:p>
            <a:pPr indent="-304800" lvl="0" marL="457200" rtl="0" algn="l">
              <a:lnSpc>
                <a:spcPct val="100000"/>
              </a:lnSpc>
              <a:spcBef>
                <a:spcPts val="400"/>
              </a:spcBef>
              <a:spcAft>
                <a:spcPts val="0"/>
              </a:spcAft>
              <a:buClr>
                <a:schemeClr val="dk2"/>
              </a:buClr>
              <a:buSzPct val="100000"/>
              <a:buChar char="●"/>
            </a:pPr>
            <a:r>
              <a:rPr lang="es" sz="4800">
                <a:solidFill>
                  <a:schemeClr val="dk2"/>
                </a:solidFill>
              </a:rPr>
              <a:t>Create a </a:t>
            </a:r>
            <a:r>
              <a:rPr b="1" lang="es" sz="4800">
                <a:solidFill>
                  <a:schemeClr val="dk2"/>
                </a:solidFill>
              </a:rPr>
              <a:t>dictionary</a:t>
            </a:r>
            <a:r>
              <a:rPr lang="es" sz="4800">
                <a:solidFill>
                  <a:schemeClr val="dk2"/>
                </a:solidFill>
              </a:rPr>
              <a:t> with usable values to standardize country names and apply it to each value in the column using the </a:t>
            </a:r>
            <a:r>
              <a:rPr b="1" lang="es" sz="4800">
                <a:solidFill>
                  <a:schemeClr val="dk1"/>
                </a:solidFill>
              </a:rPr>
              <a:t>.map() </a:t>
            </a:r>
            <a:r>
              <a:rPr lang="es" sz="4800">
                <a:solidFill>
                  <a:schemeClr val="dk2"/>
                </a:solidFill>
              </a:rPr>
              <a:t>method.</a:t>
            </a:r>
            <a:endParaRPr sz="4800">
              <a:solidFill>
                <a:schemeClr val="dk2"/>
              </a:solidFill>
            </a:endParaRPr>
          </a:p>
          <a:p>
            <a:pPr indent="-304800" lvl="0" marL="457200" rtl="0" algn="l">
              <a:lnSpc>
                <a:spcPct val="100000"/>
              </a:lnSpc>
              <a:spcBef>
                <a:spcPts val="600"/>
              </a:spcBef>
              <a:spcAft>
                <a:spcPts val="600"/>
              </a:spcAft>
              <a:buClr>
                <a:schemeClr val="dk2"/>
              </a:buClr>
              <a:buSzPct val="100000"/>
              <a:buChar char="●"/>
            </a:pPr>
            <a:r>
              <a:rPr lang="es" sz="4800">
                <a:solidFill>
                  <a:schemeClr val="dk2"/>
                </a:solidFill>
              </a:rPr>
              <a:t>Create a new column called </a:t>
            </a:r>
            <a:r>
              <a:rPr b="1" lang="es" sz="4800">
                <a:solidFill>
                  <a:schemeClr val="dk1"/>
                </a:solidFill>
                <a:latin typeface="Roboto"/>
                <a:ea typeface="Roboto"/>
                <a:cs typeface="Roboto"/>
                <a:sym typeface="Roboto"/>
              </a:rPr>
              <a:t>New_country</a:t>
            </a:r>
            <a:r>
              <a:rPr lang="es" sz="4800">
                <a:solidFill>
                  <a:schemeClr val="dk2"/>
                </a:solidFill>
              </a:rPr>
              <a:t>, containing only unique values.</a:t>
            </a:r>
            <a:endParaRPr sz="4800">
              <a:solidFill>
                <a:schemeClr val="dk2"/>
              </a:solidFill>
            </a:endParaRPr>
          </a:p>
        </p:txBody>
      </p:sp>
      <p:sp>
        <p:nvSpPr>
          <p:cNvPr id="111" name="Google Shape;111;p1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112" name="Google Shape;112;p16"/>
          <p:cNvSpPr txBox="1"/>
          <p:nvPr/>
        </p:nvSpPr>
        <p:spPr>
          <a:xfrm>
            <a:off x="6141775" y="1115850"/>
            <a:ext cx="21501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300">
                <a:solidFill>
                  <a:schemeClr val="accent3"/>
                </a:solidFill>
                <a:latin typeface="Lato"/>
                <a:ea typeface="Lato"/>
                <a:cs typeface="Lato"/>
                <a:sym typeface="Lato"/>
              </a:rPr>
              <a:t>Sample of initial data</a:t>
            </a:r>
            <a:endParaRPr b="1" sz="1300">
              <a:solidFill>
                <a:schemeClr val="accent3"/>
              </a:solidFill>
              <a:latin typeface="Lato"/>
              <a:ea typeface="Lato"/>
              <a:cs typeface="Lato"/>
              <a:sym typeface="Lato"/>
            </a:endParaRPr>
          </a:p>
        </p:txBody>
      </p:sp>
      <p:grpSp>
        <p:nvGrpSpPr>
          <p:cNvPr id="113" name="Google Shape;113;p16"/>
          <p:cNvGrpSpPr/>
          <p:nvPr/>
        </p:nvGrpSpPr>
        <p:grpSpPr>
          <a:xfrm>
            <a:off x="5922890" y="1777094"/>
            <a:ext cx="2943235" cy="2739600"/>
            <a:chOff x="6141763" y="1777094"/>
            <a:chExt cx="2943235" cy="2739600"/>
          </a:xfrm>
        </p:grpSpPr>
        <p:pic>
          <p:nvPicPr>
            <p:cNvPr id="114" name="Google Shape;114;p16"/>
            <p:cNvPicPr preferRelativeResize="0"/>
            <p:nvPr/>
          </p:nvPicPr>
          <p:blipFill>
            <a:blip r:embed="rId3">
              <a:alphaModFix/>
            </a:blip>
            <a:stretch>
              <a:fillRect/>
            </a:stretch>
          </p:blipFill>
          <p:spPr>
            <a:xfrm>
              <a:off x="6141763" y="1777100"/>
              <a:ext cx="2943225" cy="2705100"/>
            </a:xfrm>
            <a:prstGeom prst="rect">
              <a:avLst/>
            </a:prstGeom>
            <a:noFill/>
            <a:ln cap="flat" cmpd="sng" w="19050">
              <a:solidFill>
                <a:srgbClr val="D1D5DB"/>
              </a:solidFill>
              <a:prstDash val="solid"/>
              <a:round/>
              <a:headEnd len="sm" w="sm" type="none"/>
              <a:tailEnd len="sm" w="sm" type="none"/>
            </a:ln>
          </p:spPr>
        </p:pic>
        <p:sp>
          <p:nvSpPr>
            <p:cNvPr id="115" name="Google Shape;115;p16"/>
            <p:cNvSpPr/>
            <p:nvPr/>
          </p:nvSpPr>
          <p:spPr>
            <a:xfrm>
              <a:off x="8387497" y="1777094"/>
              <a:ext cx="697500" cy="2739600"/>
            </a:xfrm>
            <a:prstGeom prst="rect">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6" name="Google Shape;116;p16"/>
            <p:cNvSpPr/>
            <p:nvPr/>
          </p:nvSpPr>
          <p:spPr>
            <a:xfrm>
              <a:off x="6538771" y="1777094"/>
              <a:ext cx="697500" cy="2739600"/>
            </a:xfrm>
            <a:prstGeom prst="rect">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7"/>
          <p:cNvSpPr txBox="1"/>
          <p:nvPr>
            <p:ph idx="1" type="body"/>
          </p:nvPr>
        </p:nvSpPr>
        <p:spPr>
          <a:xfrm>
            <a:off x="729450" y="1478600"/>
            <a:ext cx="5826300" cy="3378300"/>
          </a:xfrm>
          <a:prstGeom prst="rect">
            <a:avLst/>
          </a:prstGeom>
        </p:spPr>
        <p:txBody>
          <a:bodyPr anchorCtr="0" anchor="t" bIns="91425" lIns="91425" spcFirstLastPara="1" rIns="91425" wrap="square" tIns="91425">
            <a:noAutofit/>
          </a:bodyPr>
          <a:lstStyle/>
          <a:p>
            <a:pPr indent="0" lvl="0" marL="0" rtl="0" algn="l">
              <a:lnSpc>
                <a:spcPct val="90000"/>
              </a:lnSpc>
              <a:spcBef>
                <a:spcPts val="1400"/>
              </a:spcBef>
              <a:spcAft>
                <a:spcPts val="0"/>
              </a:spcAft>
              <a:buSzPts val="358"/>
              <a:buNone/>
            </a:pPr>
            <a:r>
              <a:rPr b="1" lang="es" sz="1200">
                <a:solidFill>
                  <a:schemeClr val="dk2"/>
                </a:solidFill>
              </a:rPr>
              <a:t>Fatal Y/N</a:t>
            </a:r>
            <a:endParaRPr b="1" sz="1200">
              <a:solidFill>
                <a:schemeClr val="dk2"/>
              </a:solidFill>
            </a:endParaRPr>
          </a:p>
          <a:p>
            <a:pPr indent="450000" lvl="0" marL="0" rtl="0" algn="l">
              <a:lnSpc>
                <a:spcPct val="90000"/>
              </a:lnSpc>
              <a:spcBef>
                <a:spcPts val="1400"/>
              </a:spcBef>
              <a:spcAft>
                <a:spcPts val="0"/>
              </a:spcAft>
              <a:buSzPts val="358"/>
              <a:buNone/>
            </a:pPr>
            <a:r>
              <a:rPr b="1" lang="es" sz="1200">
                <a:solidFill>
                  <a:schemeClr val="accent3"/>
                </a:solidFill>
              </a:rPr>
              <a:t>Challenge</a:t>
            </a:r>
            <a:endParaRPr b="1" sz="1200">
              <a:solidFill>
                <a:schemeClr val="dk2"/>
              </a:solidFill>
            </a:endParaRPr>
          </a:p>
          <a:p>
            <a:pPr indent="-304800" lvl="0" marL="457200" rtl="0" algn="l">
              <a:lnSpc>
                <a:spcPct val="115000"/>
              </a:lnSpc>
              <a:spcBef>
                <a:spcPts val="400"/>
              </a:spcBef>
              <a:spcAft>
                <a:spcPts val="0"/>
              </a:spcAft>
              <a:buClr>
                <a:schemeClr val="dk2"/>
              </a:buClr>
              <a:buSzPts val="1200"/>
              <a:buChar char="●"/>
            </a:pPr>
            <a:r>
              <a:rPr lang="es" sz="1200">
                <a:solidFill>
                  <a:schemeClr val="dk2"/>
                </a:solidFill>
              </a:rPr>
              <a:t>The </a:t>
            </a:r>
            <a:r>
              <a:rPr b="1" lang="es" sz="1200">
                <a:solidFill>
                  <a:schemeClr val="dk1"/>
                </a:solidFill>
              </a:rPr>
              <a:t>Fatal Y/N</a:t>
            </a:r>
            <a:r>
              <a:rPr lang="es" sz="1200">
                <a:solidFill>
                  <a:schemeClr val="dk2"/>
                </a:solidFill>
              </a:rPr>
              <a:t> column contained multiple inconsistent values that were not suitable for analysis, ex.: 'N', 'Y', 'F', 'M', 'NAN', 'NQ', 'UNKNOWN', '2017', 'Y X 2'.</a:t>
            </a:r>
            <a:endParaRPr sz="1200">
              <a:solidFill>
                <a:schemeClr val="dk2"/>
              </a:solidFill>
            </a:endParaRPr>
          </a:p>
          <a:p>
            <a:pPr indent="0" lvl="0" marL="457200" rtl="0" algn="l">
              <a:lnSpc>
                <a:spcPct val="115000"/>
              </a:lnSpc>
              <a:spcBef>
                <a:spcPts val="1000"/>
              </a:spcBef>
              <a:spcAft>
                <a:spcPts val="0"/>
              </a:spcAft>
              <a:buNone/>
            </a:pPr>
            <a:r>
              <a:rPr b="1" lang="es" sz="1200">
                <a:solidFill>
                  <a:schemeClr val="dk1"/>
                </a:solidFill>
              </a:rPr>
              <a:t>Solution</a:t>
            </a:r>
            <a:endParaRPr b="1" sz="1200">
              <a:solidFill>
                <a:schemeClr val="dk1"/>
              </a:solidFill>
            </a:endParaRPr>
          </a:p>
          <a:p>
            <a:pPr indent="-304800" lvl="0" marL="457200" rtl="0" algn="l">
              <a:lnSpc>
                <a:spcPct val="115000"/>
              </a:lnSpc>
              <a:spcBef>
                <a:spcPts val="0"/>
              </a:spcBef>
              <a:spcAft>
                <a:spcPts val="0"/>
              </a:spcAft>
              <a:buClr>
                <a:schemeClr val="dk2"/>
              </a:buClr>
              <a:buSzPts val="1200"/>
              <a:buChar char="●"/>
            </a:pPr>
            <a:r>
              <a:rPr lang="es" sz="1200">
                <a:solidFill>
                  <a:schemeClr val="dk2"/>
                </a:solidFill>
              </a:rPr>
              <a:t>Create a dictionary with usable values and apply it to each value in the column using the </a:t>
            </a:r>
            <a:r>
              <a:rPr b="1" lang="es" sz="1200">
                <a:solidFill>
                  <a:schemeClr val="dk1"/>
                </a:solidFill>
              </a:rPr>
              <a:t>.map() </a:t>
            </a:r>
            <a:r>
              <a:rPr lang="es" sz="1200">
                <a:solidFill>
                  <a:schemeClr val="dk2"/>
                </a:solidFill>
              </a:rPr>
              <a:t>method.</a:t>
            </a:r>
            <a:endParaRPr sz="1200">
              <a:solidFill>
                <a:schemeClr val="dk2"/>
              </a:solidFill>
            </a:endParaRPr>
          </a:p>
          <a:p>
            <a:pPr indent="-304800" lvl="0" marL="457200" rtl="0" algn="l">
              <a:lnSpc>
                <a:spcPct val="115000"/>
              </a:lnSpc>
              <a:spcBef>
                <a:spcPts val="0"/>
              </a:spcBef>
              <a:spcAft>
                <a:spcPts val="0"/>
              </a:spcAft>
              <a:buClr>
                <a:schemeClr val="dk2"/>
              </a:buClr>
              <a:buSzPts val="1200"/>
              <a:buChar char="●"/>
            </a:pPr>
            <a:r>
              <a:rPr lang="es" sz="1200">
                <a:solidFill>
                  <a:schemeClr val="dk2"/>
                </a:solidFill>
              </a:rPr>
              <a:t>Create a new column </a:t>
            </a:r>
            <a:r>
              <a:rPr b="1" lang="es" sz="1200">
                <a:solidFill>
                  <a:schemeClr val="dk2"/>
                </a:solidFill>
              </a:rPr>
              <a:t>Fatal_clean </a:t>
            </a:r>
            <a:r>
              <a:rPr lang="es" sz="1200">
                <a:solidFill>
                  <a:schemeClr val="dk2"/>
                </a:solidFill>
              </a:rPr>
              <a:t>containing only three categories:</a:t>
            </a:r>
            <a:endParaRPr sz="1200">
              <a:solidFill>
                <a:schemeClr val="dk2"/>
              </a:solidFill>
            </a:endParaRPr>
          </a:p>
          <a:p>
            <a:pPr indent="-304799" lvl="0" marL="899999" rtl="0" algn="l">
              <a:lnSpc>
                <a:spcPct val="115000"/>
              </a:lnSpc>
              <a:spcBef>
                <a:spcPts val="1000"/>
              </a:spcBef>
              <a:spcAft>
                <a:spcPts val="0"/>
              </a:spcAft>
              <a:buClr>
                <a:schemeClr val="dk2"/>
              </a:buClr>
              <a:buSzPts val="1200"/>
              <a:buChar char="●"/>
            </a:pPr>
            <a:r>
              <a:rPr b="1" lang="es" sz="1200">
                <a:solidFill>
                  <a:schemeClr val="dk2"/>
                </a:solidFill>
              </a:rPr>
              <a:t>Yes</a:t>
            </a:r>
            <a:endParaRPr b="1" sz="1200">
              <a:solidFill>
                <a:schemeClr val="dk2"/>
              </a:solidFill>
            </a:endParaRPr>
          </a:p>
          <a:p>
            <a:pPr indent="-304799" lvl="0" marL="899999" rtl="0" algn="l">
              <a:lnSpc>
                <a:spcPct val="115000"/>
              </a:lnSpc>
              <a:spcBef>
                <a:spcPts val="0"/>
              </a:spcBef>
              <a:spcAft>
                <a:spcPts val="0"/>
              </a:spcAft>
              <a:buClr>
                <a:schemeClr val="dk2"/>
              </a:buClr>
              <a:buSzPts val="1200"/>
              <a:buChar char="●"/>
            </a:pPr>
            <a:r>
              <a:rPr b="1" lang="es" sz="1200">
                <a:solidFill>
                  <a:schemeClr val="dk2"/>
                </a:solidFill>
              </a:rPr>
              <a:t>No</a:t>
            </a:r>
            <a:endParaRPr b="1" sz="1200">
              <a:solidFill>
                <a:schemeClr val="dk2"/>
              </a:solidFill>
            </a:endParaRPr>
          </a:p>
          <a:p>
            <a:pPr indent="-304799" lvl="0" marL="899999" rtl="0" algn="l">
              <a:lnSpc>
                <a:spcPct val="115000"/>
              </a:lnSpc>
              <a:spcBef>
                <a:spcPts val="0"/>
              </a:spcBef>
              <a:spcAft>
                <a:spcPts val="0"/>
              </a:spcAft>
              <a:buClr>
                <a:schemeClr val="dk2"/>
              </a:buClr>
              <a:buSzPts val="1200"/>
              <a:buChar char="●"/>
            </a:pPr>
            <a:r>
              <a:rPr b="1" lang="es" sz="1200">
                <a:solidFill>
                  <a:schemeClr val="dk2"/>
                </a:solidFill>
              </a:rPr>
              <a:t>Unknown</a:t>
            </a:r>
            <a:endParaRPr b="1" sz="1200">
              <a:solidFill>
                <a:schemeClr val="dk2"/>
              </a:solidFill>
            </a:endParaRPr>
          </a:p>
          <a:p>
            <a:pPr indent="0" lvl="0" marL="0" rtl="0" algn="l">
              <a:lnSpc>
                <a:spcPct val="90000"/>
              </a:lnSpc>
              <a:spcBef>
                <a:spcPts val="1200"/>
              </a:spcBef>
              <a:spcAft>
                <a:spcPts val="1200"/>
              </a:spcAft>
              <a:buNone/>
            </a:pPr>
            <a:r>
              <a:t/>
            </a:r>
            <a:endParaRPr>
              <a:solidFill>
                <a:schemeClr val="dk2"/>
              </a:solidFill>
            </a:endParaRPr>
          </a:p>
        </p:txBody>
      </p:sp>
      <p:sp>
        <p:nvSpPr>
          <p:cNvPr id="122" name="Google Shape;122;p1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123" name="Google Shape;123;p17"/>
          <p:cNvSpPr txBox="1"/>
          <p:nvPr>
            <p:ph type="title"/>
          </p:nvPr>
        </p:nvSpPr>
        <p:spPr>
          <a:xfrm>
            <a:off x="729450" y="580650"/>
            <a:ext cx="73383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solidFill>
                  <a:schemeClr val="dk1"/>
                </a:solidFill>
              </a:rPr>
              <a:t>2. Data Wrangling and Cleaning</a:t>
            </a:r>
            <a:endParaRPr>
              <a:solidFill>
                <a:schemeClr val="dk1"/>
              </a:solidFill>
            </a:endParaRPr>
          </a:p>
        </p:txBody>
      </p:sp>
      <p:pic>
        <p:nvPicPr>
          <p:cNvPr id="124" name="Google Shape;124;p17"/>
          <p:cNvPicPr preferRelativeResize="0"/>
          <p:nvPr/>
        </p:nvPicPr>
        <p:blipFill>
          <a:blip r:embed="rId3">
            <a:alphaModFix/>
          </a:blip>
          <a:stretch>
            <a:fillRect/>
          </a:stretch>
        </p:blipFill>
        <p:spPr>
          <a:xfrm>
            <a:off x="6837318" y="1745977"/>
            <a:ext cx="1492391" cy="2498625"/>
          </a:xfrm>
          <a:prstGeom prst="rect">
            <a:avLst/>
          </a:prstGeom>
          <a:noFill/>
          <a:ln cap="flat" cmpd="sng" w="19050">
            <a:solidFill>
              <a:srgbClr val="D1D5DB"/>
            </a:solidFill>
            <a:prstDash val="solid"/>
            <a:round/>
            <a:headEnd len="sm" w="sm" type="none"/>
            <a:tailEnd len="sm" w="sm" type="none"/>
          </a:ln>
        </p:spPr>
      </p:pic>
      <p:sp>
        <p:nvSpPr>
          <p:cNvPr id="125" name="Google Shape;125;p17"/>
          <p:cNvSpPr/>
          <p:nvPr/>
        </p:nvSpPr>
        <p:spPr>
          <a:xfrm flipH="1">
            <a:off x="7363700" y="1745975"/>
            <a:ext cx="966000" cy="2498700"/>
          </a:xfrm>
          <a:prstGeom prst="rect">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6" name="Google Shape;126;p17"/>
          <p:cNvSpPr txBox="1"/>
          <p:nvPr/>
        </p:nvSpPr>
        <p:spPr>
          <a:xfrm>
            <a:off x="6837325" y="1234113"/>
            <a:ext cx="19071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300">
                <a:solidFill>
                  <a:schemeClr val="accent3"/>
                </a:solidFill>
                <a:latin typeface="Lato"/>
                <a:ea typeface="Lato"/>
                <a:cs typeface="Lato"/>
                <a:sym typeface="Lato"/>
              </a:rPr>
              <a:t>Sample of initial data</a:t>
            </a:r>
            <a:endParaRPr b="1" sz="1300">
              <a:solidFill>
                <a:schemeClr val="accent3"/>
              </a:solidFill>
              <a:latin typeface="Lato"/>
              <a:ea typeface="Lato"/>
              <a:cs typeface="Lato"/>
              <a:sym typeface="La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8"/>
          <p:cNvSpPr txBox="1"/>
          <p:nvPr>
            <p:ph idx="1" type="body"/>
          </p:nvPr>
        </p:nvSpPr>
        <p:spPr>
          <a:xfrm>
            <a:off x="424875" y="1435100"/>
            <a:ext cx="3786300" cy="35283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95000"/>
              </a:lnSpc>
              <a:spcBef>
                <a:spcPts val="1000"/>
              </a:spcBef>
              <a:spcAft>
                <a:spcPts val="0"/>
              </a:spcAft>
              <a:buNone/>
            </a:pPr>
            <a:r>
              <a:rPr b="1" lang="es" sz="1400">
                <a:solidFill>
                  <a:schemeClr val="dk2"/>
                </a:solidFill>
              </a:rPr>
              <a:t>Available Data set:</a:t>
            </a:r>
            <a:endParaRPr b="1" sz="1400">
              <a:solidFill>
                <a:schemeClr val="dk2"/>
              </a:solidFill>
            </a:endParaRPr>
          </a:p>
          <a:p>
            <a:pPr indent="-304800" lvl="0" marL="457200" rtl="0" algn="l">
              <a:lnSpc>
                <a:spcPct val="95000"/>
              </a:lnSpc>
              <a:spcBef>
                <a:spcPts val="1000"/>
              </a:spcBef>
              <a:spcAft>
                <a:spcPts val="0"/>
              </a:spcAft>
              <a:buClr>
                <a:schemeClr val="dk2"/>
              </a:buClr>
              <a:buSzPts val="1200"/>
              <a:buChar char="●"/>
            </a:pPr>
            <a:r>
              <a:rPr lang="es" sz="1200">
                <a:solidFill>
                  <a:schemeClr val="dk2"/>
                </a:solidFill>
              </a:rPr>
              <a:t>Country</a:t>
            </a:r>
            <a:endParaRPr sz="1200">
              <a:solidFill>
                <a:schemeClr val="dk2"/>
              </a:solidFill>
            </a:endParaRPr>
          </a:p>
          <a:p>
            <a:pPr indent="-304800" lvl="0" marL="457200" rtl="0" algn="l">
              <a:lnSpc>
                <a:spcPct val="95000"/>
              </a:lnSpc>
              <a:spcBef>
                <a:spcPts val="0"/>
              </a:spcBef>
              <a:spcAft>
                <a:spcPts val="0"/>
              </a:spcAft>
              <a:buClr>
                <a:schemeClr val="dk2"/>
              </a:buClr>
              <a:buSzPts val="1200"/>
              <a:buChar char="●"/>
            </a:pPr>
            <a:r>
              <a:rPr lang="es" sz="1200">
                <a:solidFill>
                  <a:schemeClr val="dk2"/>
                </a:solidFill>
              </a:rPr>
              <a:t>Fatality outcome</a:t>
            </a:r>
            <a:endParaRPr sz="1200">
              <a:solidFill>
                <a:schemeClr val="dk2"/>
              </a:solidFill>
            </a:endParaRPr>
          </a:p>
          <a:p>
            <a:pPr indent="-304800" lvl="0" marL="457200" rtl="0" algn="l">
              <a:lnSpc>
                <a:spcPct val="95000"/>
              </a:lnSpc>
              <a:spcBef>
                <a:spcPts val="0"/>
              </a:spcBef>
              <a:spcAft>
                <a:spcPts val="0"/>
              </a:spcAft>
              <a:buClr>
                <a:schemeClr val="dk2"/>
              </a:buClr>
              <a:buSzPts val="1200"/>
              <a:buChar char="●"/>
            </a:pPr>
            <a:r>
              <a:rPr lang="es" sz="1200">
                <a:solidFill>
                  <a:schemeClr val="dk2"/>
                </a:solidFill>
              </a:rPr>
              <a:t>Month </a:t>
            </a:r>
            <a:endParaRPr sz="1200">
              <a:solidFill>
                <a:schemeClr val="dk2"/>
              </a:solidFill>
            </a:endParaRPr>
          </a:p>
          <a:p>
            <a:pPr indent="-304800" lvl="0" marL="457200" rtl="0" algn="l">
              <a:lnSpc>
                <a:spcPct val="95000"/>
              </a:lnSpc>
              <a:spcBef>
                <a:spcPts val="0"/>
              </a:spcBef>
              <a:spcAft>
                <a:spcPts val="0"/>
              </a:spcAft>
              <a:buClr>
                <a:schemeClr val="dk2"/>
              </a:buClr>
              <a:buSzPts val="1200"/>
              <a:buChar char="●"/>
            </a:pPr>
            <a:r>
              <a:rPr lang="es" sz="1200">
                <a:solidFill>
                  <a:schemeClr val="dk2"/>
                </a:solidFill>
              </a:rPr>
              <a:t>Activity</a:t>
            </a:r>
            <a:endParaRPr sz="1200">
              <a:solidFill>
                <a:schemeClr val="dk2"/>
              </a:solidFill>
            </a:endParaRPr>
          </a:p>
          <a:p>
            <a:pPr indent="0" lvl="0" marL="0" rtl="0" algn="l">
              <a:lnSpc>
                <a:spcPct val="100000"/>
              </a:lnSpc>
              <a:spcBef>
                <a:spcPts val="1000"/>
              </a:spcBef>
              <a:spcAft>
                <a:spcPts val="0"/>
              </a:spcAft>
              <a:buNone/>
            </a:pPr>
            <a:r>
              <a:rPr b="1" lang="es" sz="1400">
                <a:solidFill>
                  <a:srgbClr val="000000"/>
                </a:solidFill>
              </a:rPr>
              <a:t>Tasks:</a:t>
            </a:r>
            <a:endParaRPr b="1" sz="1400">
              <a:solidFill>
                <a:srgbClr val="000000"/>
              </a:solidFill>
            </a:endParaRPr>
          </a:p>
          <a:p>
            <a:pPr indent="-304800" lvl="0" marL="457200" rtl="0" algn="l">
              <a:lnSpc>
                <a:spcPct val="100000"/>
              </a:lnSpc>
              <a:spcBef>
                <a:spcPts val="1000"/>
              </a:spcBef>
              <a:spcAft>
                <a:spcPts val="0"/>
              </a:spcAft>
              <a:buClr>
                <a:srgbClr val="000000"/>
              </a:buClr>
              <a:buSzPts val="1200"/>
              <a:buFont typeface="Lato"/>
              <a:buChar char="●"/>
            </a:pPr>
            <a:r>
              <a:rPr lang="es" sz="1200">
                <a:solidFill>
                  <a:srgbClr val="000000"/>
                </a:solidFill>
              </a:rPr>
              <a:t>Identify the countries with the highest </a:t>
            </a:r>
            <a:r>
              <a:rPr lang="es" sz="1200">
                <a:solidFill>
                  <a:schemeClr val="dk1"/>
                </a:solidFill>
              </a:rPr>
              <a:t>percentage of shark attacks</a:t>
            </a:r>
            <a:r>
              <a:rPr lang="es" sz="1200">
                <a:solidFill>
                  <a:srgbClr val="000000"/>
                </a:solidFill>
              </a:rPr>
              <a:t>.</a:t>
            </a:r>
            <a:endParaRPr sz="1200">
              <a:solidFill>
                <a:srgbClr val="000000"/>
              </a:solidFill>
            </a:endParaRPr>
          </a:p>
          <a:p>
            <a:pPr indent="-304800" lvl="0" marL="457200" rtl="0" algn="l">
              <a:lnSpc>
                <a:spcPct val="100000"/>
              </a:lnSpc>
              <a:spcBef>
                <a:spcPts val="600"/>
              </a:spcBef>
              <a:spcAft>
                <a:spcPts val="0"/>
              </a:spcAft>
              <a:buClr>
                <a:srgbClr val="000000"/>
              </a:buClr>
              <a:buSzPts val="1200"/>
              <a:buFont typeface="Lato"/>
              <a:buChar char="●"/>
            </a:pPr>
            <a:r>
              <a:rPr lang="es" sz="1200">
                <a:solidFill>
                  <a:srgbClr val="000000"/>
                </a:solidFill>
              </a:rPr>
              <a:t>Identify the countries with the </a:t>
            </a:r>
            <a:r>
              <a:rPr lang="es" sz="1200">
                <a:solidFill>
                  <a:schemeClr val="dk1"/>
                </a:solidFill>
              </a:rPr>
              <a:t>highest number of fatal shark attack cases</a:t>
            </a:r>
            <a:r>
              <a:rPr lang="es" sz="1200">
                <a:solidFill>
                  <a:srgbClr val="000000"/>
                </a:solidFill>
              </a:rPr>
              <a:t>.</a:t>
            </a:r>
            <a:endParaRPr sz="1200">
              <a:solidFill>
                <a:srgbClr val="000000"/>
              </a:solidFill>
            </a:endParaRPr>
          </a:p>
          <a:p>
            <a:pPr indent="-304800" lvl="0" marL="457200" rtl="0" algn="l">
              <a:lnSpc>
                <a:spcPct val="100000"/>
              </a:lnSpc>
              <a:spcBef>
                <a:spcPts val="600"/>
              </a:spcBef>
              <a:spcAft>
                <a:spcPts val="0"/>
              </a:spcAft>
              <a:buClr>
                <a:srgbClr val="000000"/>
              </a:buClr>
              <a:buSzPts val="1200"/>
              <a:buFont typeface="Lato"/>
              <a:buChar char="●"/>
            </a:pPr>
            <a:r>
              <a:rPr lang="es" sz="1200">
                <a:solidFill>
                  <a:srgbClr val="000000"/>
                </a:solidFill>
              </a:rPr>
              <a:t>Calculate the </a:t>
            </a:r>
            <a:r>
              <a:rPr lang="es" sz="1200">
                <a:solidFill>
                  <a:schemeClr val="dk1"/>
                </a:solidFill>
              </a:rPr>
              <a:t>percentage of total and fatal incidents</a:t>
            </a:r>
            <a:r>
              <a:rPr lang="es" sz="1200">
                <a:solidFill>
                  <a:srgbClr val="000000"/>
                </a:solidFill>
              </a:rPr>
              <a:t> by country.</a:t>
            </a:r>
            <a:endParaRPr sz="1200">
              <a:solidFill>
                <a:srgbClr val="000000"/>
              </a:solidFill>
            </a:endParaRPr>
          </a:p>
          <a:p>
            <a:pPr indent="-304800" lvl="0" marL="457200" rtl="0" algn="l">
              <a:lnSpc>
                <a:spcPct val="100000"/>
              </a:lnSpc>
              <a:spcBef>
                <a:spcPts val="600"/>
              </a:spcBef>
              <a:spcAft>
                <a:spcPts val="600"/>
              </a:spcAft>
              <a:buClr>
                <a:srgbClr val="000000"/>
              </a:buClr>
              <a:buSzPts val="1200"/>
              <a:buFont typeface="Lato"/>
              <a:buChar char="●"/>
            </a:pPr>
            <a:r>
              <a:rPr i="1" lang="es" sz="1200">
                <a:solidFill>
                  <a:srgbClr val="000000"/>
                </a:solidFill>
              </a:rPr>
              <a:t>(Optional)</a:t>
            </a:r>
            <a:r>
              <a:rPr lang="es" sz="1200">
                <a:solidFill>
                  <a:srgbClr val="000000"/>
                </a:solidFill>
              </a:rPr>
              <a:t> Identify the </a:t>
            </a:r>
            <a:r>
              <a:rPr lang="es" sz="1200">
                <a:solidFill>
                  <a:schemeClr val="dk1"/>
                </a:solidFill>
              </a:rPr>
              <a:t>activities most frequently associated with fatal incidents</a:t>
            </a:r>
            <a:r>
              <a:rPr lang="es" sz="1200">
                <a:solidFill>
                  <a:srgbClr val="000000"/>
                </a:solidFill>
              </a:rPr>
              <a:t>.</a:t>
            </a:r>
            <a:endParaRPr b="1" sz="1200">
              <a:solidFill>
                <a:schemeClr val="dk2"/>
              </a:solidFill>
            </a:endParaRPr>
          </a:p>
        </p:txBody>
      </p:sp>
      <p:sp>
        <p:nvSpPr>
          <p:cNvPr id="132" name="Google Shape;132;p1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133" name="Google Shape;133;p18"/>
          <p:cNvSpPr txBox="1"/>
          <p:nvPr>
            <p:ph type="title"/>
          </p:nvPr>
        </p:nvSpPr>
        <p:spPr>
          <a:xfrm>
            <a:off x="752850" y="580650"/>
            <a:ext cx="7715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solidFill>
                  <a:schemeClr val="dk1"/>
                </a:solidFill>
              </a:rPr>
              <a:t>3. Exploratory Data Analysis</a:t>
            </a:r>
            <a:endParaRPr>
              <a:solidFill>
                <a:schemeClr val="dk1"/>
              </a:solidFill>
            </a:endParaRPr>
          </a:p>
          <a:p>
            <a:pPr indent="0" lvl="0" marL="0" rtl="0" algn="l">
              <a:spcBef>
                <a:spcPts val="0"/>
              </a:spcBef>
              <a:spcAft>
                <a:spcPts val="0"/>
              </a:spcAft>
              <a:buNone/>
            </a:pPr>
            <a:r>
              <a:t/>
            </a:r>
            <a:endParaRPr>
              <a:solidFill>
                <a:schemeClr val="dk1"/>
              </a:solidFill>
            </a:endParaRPr>
          </a:p>
        </p:txBody>
      </p:sp>
      <p:sp>
        <p:nvSpPr>
          <p:cNvPr id="134" name="Google Shape;134;p18"/>
          <p:cNvSpPr txBox="1"/>
          <p:nvPr>
            <p:ph idx="1" type="body"/>
          </p:nvPr>
        </p:nvSpPr>
        <p:spPr>
          <a:xfrm>
            <a:off x="5010238" y="1435100"/>
            <a:ext cx="3786300" cy="3528300"/>
          </a:xfrm>
          <a:prstGeom prst="rect">
            <a:avLst/>
          </a:prstGeom>
          <a:ln cap="flat" cmpd="sng" w="9525">
            <a:solidFill>
              <a:schemeClr val="accent3"/>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95000"/>
              </a:lnSpc>
              <a:spcBef>
                <a:spcPts val="1000"/>
              </a:spcBef>
              <a:spcAft>
                <a:spcPts val="0"/>
              </a:spcAft>
              <a:buNone/>
            </a:pPr>
            <a:r>
              <a:rPr b="1" lang="es" sz="1400">
                <a:solidFill>
                  <a:schemeClr val="dk2"/>
                </a:solidFill>
              </a:rPr>
              <a:t>Structuring data and key methods</a:t>
            </a:r>
            <a:r>
              <a:rPr b="1" lang="es" sz="1400">
                <a:solidFill>
                  <a:schemeClr val="dk2"/>
                </a:solidFill>
              </a:rPr>
              <a:t>:</a:t>
            </a:r>
            <a:endParaRPr b="1" sz="1400">
              <a:solidFill>
                <a:schemeClr val="dk2"/>
              </a:solidFill>
            </a:endParaRPr>
          </a:p>
          <a:p>
            <a:pPr indent="-311150" lvl="0" marL="457200" rtl="0" algn="l">
              <a:lnSpc>
                <a:spcPct val="100000"/>
              </a:lnSpc>
              <a:spcBef>
                <a:spcPts val="1000"/>
              </a:spcBef>
              <a:spcAft>
                <a:spcPts val="0"/>
              </a:spcAft>
              <a:buClr>
                <a:srgbClr val="000000"/>
              </a:buClr>
              <a:buSzPts val="1300"/>
              <a:buFont typeface="Arial"/>
              <a:buChar char="●"/>
            </a:pPr>
            <a:r>
              <a:rPr lang="es" sz="1200">
                <a:solidFill>
                  <a:srgbClr val="000000"/>
                </a:solidFill>
              </a:rPr>
              <a:t>Created new columns, </a:t>
            </a:r>
            <a:r>
              <a:rPr b="1" lang="es" sz="1200">
                <a:solidFill>
                  <a:srgbClr val="000000"/>
                </a:solidFill>
              </a:rPr>
              <a:t>“Country_new”</a:t>
            </a:r>
            <a:r>
              <a:rPr lang="es" sz="1200">
                <a:solidFill>
                  <a:srgbClr val="000000"/>
                </a:solidFill>
              </a:rPr>
              <a:t> and </a:t>
            </a:r>
            <a:r>
              <a:rPr b="1" lang="es" sz="1200">
                <a:solidFill>
                  <a:srgbClr val="000000"/>
                </a:solidFill>
              </a:rPr>
              <a:t>“Fatal_new”</a:t>
            </a:r>
            <a:r>
              <a:rPr lang="es" sz="1200">
                <a:solidFill>
                  <a:srgbClr val="000000"/>
                </a:solidFill>
              </a:rPr>
              <a:t>, containing cleaned data.</a:t>
            </a:r>
            <a:endParaRPr sz="1200">
              <a:solidFill>
                <a:srgbClr val="000000"/>
              </a:solidFill>
            </a:endParaRPr>
          </a:p>
          <a:p>
            <a:pPr indent="-311150" lvl="0" marL="457200" rtl="0" algn="l">
              <a:lnSpc>
                <a:spcPct val="100000"/>
              </a:lnSpc>
              <a:spcBef>
                <a:spcPts val="600"/>
              </a:spcBef>
              <a:spcAft>
                <a:spcPts val="0"/>
              </a:spcAft>
              <a:buClr>
                <a:srgbClr val="000000"/>
              </a:buClr>
              <a:buSzPts val="1300"/>
              <a:buFont typeface="Arial"/>
              <a:buChar char="●"/>
            </a:pPr>
            <a:r>
              <a:rPr lang="es" sz="1200">
                <a:solidFill>
                  <a:srgbClr val="000000"/>
                </a:solidFill>
              </a:rPr>
              <a:t>Used the</a:t>
            </a:r>
            <a:r>
              <a:rPr b="1" lang="es" sz="1200">
                <a:solidFill>
                  <a:schemeClr val="dk1"/>
                </a:solidFill>
              </a:rPr>
              <a:t> .isin()</a:t>
            </a:r>
            <a:r>
              <a:rPr lang="es" sz="1200">
                <a:solidFill>
                  <a:srgbClr val="000000"/>
                </a:solidFill>
              </a:rPr>
              <a:t> pandas method to filter rows with values </a:t>
            </a:r>
            <a:r>
              <a:rPr b="1" lang="es" sz="1200">
                <a:solidFill>
                  <a:srgbClr val="000000"/>
                </a:solidFill>
              </a:rPr>
              <a:t>“Y”</a:t>
            </a:r>
            <a:r>
              <a:rPr lang="es" sz="1200">
                <a:solidFill>
                  <a:srgbClr val="000000"/>
                </a:solidFill>
              </a:rPr>
              <a:t> or </a:t>
            </a:r>
            <a:r>
              <a:rPr b="1" lang="es" sz="1200">
                <a:solidFill>
                  <a:srgbClr val="000000"/>
                </a:solidFill>
              </a:rPr>
              <a:t>“No”</a:t>
            </a:r>
            <a:r>
              <a:rPr lang="es" sz="1200">
                <a:solidFill>
                  <a:srgbClr val="000000"/>
                </a:solidFill>
              </a:rPr>
              <a:t>, and</a:t>
            </a:r>
            <a:r>
              <a:rPr b="1" lang="es" sz="1200">
                <a:solidFill>
                  <a:srgbClr val="000000"/>
                </a:solidFill>
              </a:rPr>
              <a:t> </a:t>
            </a:r>
            <a:r>
              <a:rPr b="1" lang="es" sz="1200">
                <a:solidFill>
                  <a:schemeClr val="dk1"/>
                </a:solidFill>
              </a:rPr>
              <a:t>.notna() </a:t>
            </a:r>
            <a:r>
              <a:rPr lang="es" sz="1200">
                <a:solidFill>
                  <a:srgbClr val="000000"/>
                </a:solidFill>
              </a:rPr>
              <a:t>to keep only valid (non-null) data in the </a:t>
            </a:r>
            <a:r>
              <a:rPr b="1" lang="es" sz="1200">
                <a:solidFill>
                  <a:srgbClr val="000000"/>
                </a:solidFill>
              </a:rPr>
              <a:t>Fatal</a:t>
            </a:r>
            <a:r>
              <a:rPr lang="es" sz="1200">
                <a:solidFill>
                  <a:srgbClr val="000000"/>
                </a:solidFill>
              </a:rPr>
              <a:t> column.</a:t>
            </a:r>
            <a:endParaRPr sz="1200">
              <a:solidFill>
                <a:srgbClr val="000000"/>
              </a:solidFill>
            </a:endParaRPr>
          </a:p>
          <a:p>
            <a:pPr indent="-311150" lvl="0" marL="457200" rtl="0" algn="l">
              <a:lnSpc>
                <a:spcPct val="100000"/>
              </a:lnSpc>
              <a:spcBef>
                <a:spcPts val="600"/>
              </a:spcBef>
              <a:spcAft>
                <a:spcPts val="0"/>
              </a:spcAft>
              <a:buClr>
                <a:srgbClr val="000000"/>
              </a:buClr>
              <a:buSzPts val="1300"/>
              <a:buFont typeface="Arial"/>
              <a:buChar char="●"/>
            </a:pPr>
            <a:r>
              <a:rPr lang="es" sz="1200">
                <a:solidFill>
                  <a:srgbClr val="000000"/>
                </a:solidFill>
              </a:rPr>
              <a:t>Used </a:t>
            </a:r>
            <a:r>
              <a:rPr b="1" lang="es" sz="1200">
                <a:solidFill>
                  <a:schemeClr val="dk1"/>
                </a:solidFill>
              </a:rPr>
              <a:t>.groupby()</a:t>
            </a:r>
            <a:r>
              <a:rPr b="1" lang="es" sz="1200">
                <a:solidFill>
                  <a:srgbClr val="000000"/>
                </a:solidFill>
              </a:rPr>
              <a:t> </a:t>
            </a:r>
            <a:r>
              <a:rPr lang="es" sz="1200">
                <a:solidFill>
                  <a:srgbClr val="000000"/>
                </a:solidFill>
              </a:rPr>
              <a:t>and </a:t>
            </a:r>
            <a:r>
              <a:rPr b="1" lang="es" sz="1200">
                <a:solidFill>
                  <a:schemeClr val="dk1"/>
                </a:solidFill>
              </a:rPr>
              <a:t>.agg() </a:t>
            </a:r>
            <a:r>
              <a:rPr lang="es" sz="1200">
                <a:solidFill>
                  <a:srgbClr val="000000"/>
                </a:solidFill>
              </a:rPr>
              <a:t>to group the data by country and summarize fatal cases.</a:t>
            </a:r>
            <a:endParaRPr sz="1200">
              <a:solidFill>
                <a:srgbClr val="000000"/>
              </a:solidFill>
            </a:endParaRPr>
          </a:p>
          <a:p>
            <a:pPr indent="-311150" lvl="0" marL="457200" rtl="0" algn="l">
              <a:lnSpc>
                <a:spcPct val="100000"/>
              </a:lnSpc>
              <a:spcBef>
                <a:spcPts val="600"/>
              </a:spcBef>
              <a:spcAft>
                <a:spcPts val="0"/>
              </a:spcAft>
              <a:buClr>
                <a:srgbClr val="000000"/>
              </a:buClr>
              <a:buSzPts val="1300"/>
              <a:buFont typeface="Arial"/>
              <a:buChar char="●"/>
            </a:pPr>
            <a:r>
              <a:rPr lang="es" sz="1200">
                <a:solidFill>
                  <a:srgbClr val="000000"/>
                </a:solidFill>
              </a:rPr>
              <a:t>Used </a:t>
            </a:r>
            <a:r>
              <a:rPr b="1" lang="es" sz="1200">
                <a:solidFill>
                  <a:schemeClr val="dk1"/>
                </a:solidFill>
              </a:rPr>
              <a:t>.agg() </a:t>
            </a:r>
            <a:r>
              <a:rPr lang="es" sz="1200">
                <a:solidFill>
                  <a:srgbClr val="000000"/>
                </a:solidFill>
              </a:rPr>
              <a:t>to calculate multiple summary metrics, for example counting how many rows exist per country in </a:t>
            </a:r>
            <a:r>
              <a:rPr b="1" lang="es" sz="1200">
                <a:solidFill>
                  <a:srgbClr val="000000"/>
                </a:solidFill>
              </a:rPr>
              <a:t>Fatal_new</a:t>
            </a:r>
            <a:r>
              <a:rPr lang="es" sz="1200">
                <a:solidFill>
                  <a:srgbClr val="000000"/>
                </a:solidFill>
              </a:rPr>
              <a:t>.</a:t>
            </a:r>
            <a:endParaRPr sz="1200">
              <a:solidFill>
                <a:srgbClr val="000000"/>
              </a:solidFill>
            </a:endParaRPr>
          </a:p>
          <a:p>
            <a:pPr indent="-311150" lvl="0" marL="457200" rtl="0" algn="l">
              <a:lnSpc>
                <a:spcPct val="100000"/>
              </a:lnSpc>
              <a:spcBef>
                <a:spcPts val="600"/>
              </a:spcBef>
              <a:spcAft>
                <a:spcPts val="600"/>
              </a:spcAft>
              <a:buClr>
                <a:srgbClr val="000000"/>
              </a:buClr>
              <a:buSzPts val="1300"/>
              <a:buFont typeface="Arial"/>
              <a:buChar char="●"/>
            </a:pPr>
            <a:r>
              <a:rPr lang="es" sz="1200">
                <a:solidFill>
                  <a:srgbClr val="000000"/>
                </a:solidFill>
              </a:rPr>
              <a:t>Used</a:t>
            </a:r>
            <a:r>
              <a:rPr lang="es" sz="1200">
                <a:solidFill>
                  <a:schemeClr val="dk1"/>
                </a:solidFill>
              </a:rPr>
              <a:t> </a:t>
            </a:r>
            <a:r>
              <a:rPr b="1" lang="es" sz="1200">
                <a:solidFill>
                  <a:schemeClr val="dk1"/>
                </a:solidFill>
              </a:rPr>
              <a:t>.sort_values()</a:t>
            </a:r>
            <a:r>
              <a:rPr lang="es" sz="1200">
                <a:solidFill>
                  <a:schemeClr val="dk1"/>
                </a:solidFill>
              </a:rPr>
              <a:t> </a:t>
            </a:r>
            <a:r>
              <a:rPr lang="es" sz="1200">
                <a:solidFill>
                  <a:srgbClr val="000000"/>
                </a:solidFill>
              </a:rPr>
              <a:t>to sort the percentages of attack cases in descending order.</a:t>
            </a:r>
            <a:endParaRPr b="1" sz="1200">
              <a:solidFill>
                <a:schemeClr val="dk2"/>
              </a:solidFill>
            </a:endParaRPr>
          </a:p>
        </p:txBody>
      </p:sp>
      <p:sp>
        <p:nvSpPr>
          <p:cNvPr id="135" name="Google Shape;135;p18"/>
          <p:cNvSpPr/>
          <p:nvPr/>
        </p:nvSpPr>
        <p:spPr>
          <a:xfrm>
            <a:off x="4336352" y="2754100"/>
            <a:ext cx="548700" cy="535200"/>
          </a:xfrm>
          <a:prstGeom prst="chevron">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9"/>
          <p:cNvSpPr txBox="1"/>
          <p:nvPr>
            <p:ph idx="1" type="body"/>
          </p:nvPr>
        </p:nvSpPr>
        <p:spPr>
          <a:xfrm>
            <a:off x="5346700" y="1536700"/>
            <a:ext cx="3071400" cy="2803200"/>
          </a:xfrm>
          <a:prstGeom prst="rect">
            <a:avLst/>
          </a:prstGeom>
        </p:spPr>
        <p:txBody>
          <a:bodyPr anchorCtr="0" anchor="t" bIns="91425" lIns="91425" spcFirstLastPara="1" rIns="91425" wrap="square" tIns="91425">
            <a:normAutofit/>
          </a:bodyPr>
          <a:lstStyle/>
          <a:p>
            <a:pPr indent="-178899" lvl="0" marL="179999" rtl="0" algn="l">
              <a:spcBef>
                <a:spcPts val="0"/>
              </a:spcBef>
              <a:spcAft>
                <a:spcPts val="0"/>
              </a:spcAft>
              <a:buClr>
                <a:schemeClr val="dk2"/>
              </a:buClr>
              <a:buSzPts val="1400"/>
              <a:buChar char="●"/>
            </a:pPr>
            <a:r>
              <a:rPr lang="es" sz="1400">
                <a:solidFill>
                  <a:schemeClr val="dk1"/>
                </a:solidFill>
              </a:rPr>
              <a:t>The top 7</a:t>
            </a:r>
            <a:r>
              <a:rPr lang="es" sz="1400">
                <a:solidFill>
                  <a:schemeClr val="dk2"/>
                </a:solidFill>
              </a:rPr>
              <a:t> </a:t>
            </a:r>
            <a:r>
              <a:rPr lang="es" sz="1400">
                <a:solidFill>
                  <a:schemeClr val="dk1"/>
                </a:solidFill>
              </a:rPr>
              <a:t>countries </a:t>
            </a:r>
            <a:r>
              <a:rPr lang="es" sz="1400">
                <a:solidFill>
                  <a:schemeClr val="dk2"/>
                </a:solidFill>
              </a:rPr>
              <a:t>account for </a:t>
            </a:r>
            <a:r>
              <a:rPr lang="es" sz="1400">
                <a:solidFill>
                  <a:schemeClr val="accent3"/>
                </a:solidFill>
              </a:rPr>
              <a:t>60% </a:t>
            </a:r>
            <a:r>
              <a:rPr lang="es" sz="1400">
                <a:solidFill>
                  <a:schemeClr val="dk2"/>
                </a:solidFill>
              </a:rPr>
              <a:t>of the fatal cases in the database.</a:t>
            </a:r>
            <a:endParaRPr sz="1400">
              <a:solidFill>
                <a:schemeClr val="dk2"/>
              </a:solidFill>
            </a:endParaRPr>
          </a:p>
          <a:p>
            <a:pPr indent="-178899" lvl="0" marL="179999" rtl="0" algn="l">
              <a:spcBef>
                <a:spcPts val="0"/>
              </a:spcBef>
              <a:spcAft>
                <a:spcPts val="0"/>
              </a:spcAft>
              <a:buClr>
                <a:schemeClr val="dk2"/>
              </a:buClr>
              <a:buSzPts val="1400"/>
              <a:buChar char="●"/>
            </a:pPr>
            <a:r>
              <a:rPr lang="es" sz="1400">
                <a:solidFill>
                  <a:schemeClr val="dk2"/>
                </a:solidFill>
              </a:rPr>
              <a:t>Countries outside the top 7 each represent less than 2% of the total fatal cases.</a:t>
            </a:r>
            <a:endParaRPr sz="1400">
              <a:solidFill>
                <a:schemeClr val="dk2"/>
              </a:solidFill>
            </a:endParaRPr>
          </a:p>
          <a:p>
            <a:pPr indent="-178899" lvl="0" marL="179999" rtl="0" algn="l">
              <a:spcBef>
                <a:spcPts val="0"/>
              </a:spcBef>
              <a:spcAft>
                <a:spcPts val="0"/>
              </a:spcAft>
              <a:buClr>
                <a:schemeClr val="dk2"/>
              </a:buClr>
              <a:buSzPts val="1400"/>
              <a:buChar char="●"/>
            </a:pPr>
            <a:r>
              <a:rPr lang="es" sz="1400">
                <a:solidFill>
                  <a:schemeClr val="dk1"/>
                </a:solidFill>
              </a:rPr>
              <a:t>Australia </a:t>
            </a:r>
            <a:r>
              <a:rPr lang="es" sz="1400">
                <a:solidFill>
                  <a:schemeClr val="dk2"/>
                </a:solidFill>
              </a:rPr>
              <a:t>accounts for </a:t>
            </a:r>
            <a:r>
              <a:rPr lang="es" sz="1400">
                <a:solidFill>
                  <a:schemeClr val="accent3"/>
                </a:solidFill>
              </a:rPr>
              <a:t>22%</a:t>
            </a:r>
            <a:r>
              <a:rPr lang="es" sz="1400">
                <a:solidFill>
                  <a:schemeClr val="dk2"/>
                </a:solidFill>
              </a:rPr>
              <a:t> of the fatal cases in the database, making it the country with the highest number of fatal cases.</a:t>
            </a:r>
            <a:endParaRPr sz="1400">
              <a:solidFill>
                <a:schemeClr val="dk2"/>
              </a:solidFill>
            </a:endParaRPr>
          </a:p>
        </p:txBody>
      </p:sp>
      <p:sp>
        <p:nvSpPr>
          <p:cNvPr id="141" name="Google Shape;141;p1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142" name="Google Shape;142;p19"/>
          <p:cNvSpPr txBox="1"/>
          <p:nvPr>
            <p:ph type="title"/>
          </p:nvPr>
        </p:nvSpPr>
        <p:spPr>
          <a:xfrm>
            <a:off x="752850" y="580650"/>
            <a:ext cx="7715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solidFill>
                  <a:schemeClr val="dk1"/>
                </a:solidFill>
              </a:rPr>
              <a:t>3. Exploratory Data Analysis</a:t>
            </a:r>
            <a:endParaRPr>
              <a:solidFill>
                <a:schemeClr val="dk1"/>
              </a:solidFill>
            </a:endParaRPr>
          </a:p>
          <a:p>
            <a:pPr indent="0" lvl="0" marL="0" rtl="0" algn="l">
              <a:spcBef>
                <a:spcPts val="0"/>
              </a:spcBef>
              <a:spcAft>
                <a:spcPts val="0"/>
              </a:spcAft>
              <a:buNone/>
            </a:pPr>
            <a:r>
              <a:t/>
            </a:r>
            <a:endParaRPr>
              <a:solidFill>
                <a:schemeClr val="dk1"/>
              </a:solidFill>
            </a:endParaRPr>
          </a:p>
        </p:txBody>
      </p:sp>
      <p:pic>
        <p:nvPicPr>
          <p:cNvPr id="143" name="Google Shape;143;p19"/>
          <p:cNvPicPr preferRelativeResize="0"/>
          <p:nvPr/>
        </p:nvPicPr>
        <p:blipFill>
          <a:blip r:embed="rId3">
            <a:alphaModFix/>
          </a:blip>
          <a:stretch>
            <a:fillRect/>
          </a:stretch>
        </p:blipFill>
        <p:spPr>
          <a:xfrm>
            <a:off x="555250" y="1348000"/>
            <a:ext cx="4016760" cy="372285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0"/>
          <p:cNvSpPr txBox="1"/>
          <p:nvPr>
            <p:ph idx="1" type="body"/>
          </p:nvPr>
        </p:nvSpPr>
        <p:spPr>
          <a:xfrm>
            <a:off x="6274350" y="1553263"/>
            <a:ext cx="2759700" cy="2786700"/>
          </a:xfrm>
          <a:prstGeom prst="rect">
            <a:avLst/>
          </a:prstGeom>
        </p:spPr>
        <p:txBody>
          <a:bodyPr anchorCtr="0" anchor="t" bIns="91425" lIns="91425" spcFirstLastPara="1" rIns="91425" wrap="square" tIns="91425">
            <a:noAutofit/>
          </a:bodyPr>
          <a:lstStyle/>
          <a:p>
            <a:pPr indent="-178899" lvl="0" marL="179999" rtl="0" algn="l">
              <a:lnSpc>
                <a:spcPct val="115000"/>
              </a:lnSpc>
              <a:spcBef>
                <a:spcPts val="0"/>
              </a:spcBef>
              <a:spcAft>
                <a:spcPts val="0"/>
              </a:spcAft>
              <a:buClr>
                <a:schemeClr val="dk2"/>
              </a:buClr>
              <a:buSzPts val="1400"/>
              <a:buChar char="●"/>
            </a:pPr>
            <a:r>
              <a:rPr lang="es" sz="1400">
                <a:solidFill>
                  <a:schemeClr val="dk1"/>
                </a:solidFill>
                <a:highlight>
                  <a:srgbClr val="FFFFFF"/>
                </a:highlight>
              </a:rPr>
              <a:t>There is no data </a:t>
            </a:r>
            <a:r>
              <a:rPr lang="es" sz="1400">
                <a:solidFill>
                  <a:schemeClr val="dk2"/>
                </a:solidFill>
                <a:highlight>
                  <a:srgbClr val="FFFFFF"/>
                </a:highlight>
              </a:rPr>
              <a:t>on shark attacks </a:t>
            </a:r>
            <a:r>
              <a:rPr lang="es" sz="1400">
                <a:solidFill>
                  <a:schemeClr val="dk1"/>
                </a:solidFill>
                <a:highlight>
                  <a:srgbClr val="FFFFFF"/>
                </a:highlight>
              </a:rPr>
              <a:t>between February and May</a:t>
            </a:r>
            <a:r>
              <a:rPr lang="es" sz="1400">
                <a:solidFill>
                  <a:srgbClr val="1F1F1F"/>
                </a:solidFill>
                <a:highlight>
                  <a:srgbClr val="FFFFFF"/>
                </a:highlight>
              </a:rPr>
              <a:t>, suggesting that sharks may be less active during these months or the data is missing.</a:t>
            </a:r>
            <a:endParaRPr sz="1400">
              <a:solidFill>
                <a:srgbClr val="1F1F1F"/>
              </a:solidFill>
              <a:highlight>
                <a:srgbClr val="FFFFFF"/>
              </a:highlight>
            </a:endParaRPr>
          </a:p>
          <a:p>
            <a:pPr indent="-178899" lvl="0" marL="179999" rtl="0" algn="l">
              <a:lnSpc>
                <a:spcPct val="115000"/>
              </a:lnSpc>
              <a:spcBef>
                <a:spcPts val="0"/>
              </a:spcBef>
              <a:spcAft>
                <a:spcPts val="0"/>
              </a:spcAft>
              <a:buClr>
                <a:srgbClr val="1F1F1F"/>
              </a:buClr>
              <a:buSzPts val="1400"/>
              <a:buChar char="●"/>
            </a:pPr>
            <a:r>
              <a:rPr lang="es" sz="1400">
                <a:solidFill>
                  <a:srgbClr val="1F1F1F"/>
                </a:solidFill>
                <a:highlight>
                  <a:srgbClr val="FFFFFF"/>
                </a:highlight>
              </a:rPr>
              <a:t>Approximately </a:t>
            </a:r>
            <a:r>
              <a:rPr b="1" lang="es" sz="1400">
                <a:solidFill>
                  <a:schemeClr val="accent3"/>
                </a:solidFill>
                <a:highlight>
                  <a:srgbClr val="FFFFFF"/>
                </a:highlight>
              </a:rPr>
              <a:t>30%</a:t>
            </a:r>
            <a:r>
              <a:rPr lang="es" sz="1400">
                <a:solidFill>
                  <a:schemeClr val="accent3"/>
                </a:solidFill>
                <a:highlight>
                  <a:srgbClr val="FFFFFF"/>
                </a:highlight>
              </a:rPr>
              <a:t> </a:t>
            </a:r>
            <a:r>
              <a:rPr lang="es" sz="1400">
                <a:solidFill>
                  <a:schemeClr val="dk1"/>
                </a:solidFill>
                <a:highlight>
                  <a:srgbClr val="FFFFFF"/>
                </a:highlight>
              </a:rPr>
              <a:t>of shark attacks occur in </a:t>
            </a:r>
            <a:r>
              <a:rPr b="1" lang="es" sz="1400">
                <a:solidFill>
                  <a:schemeClr val="dk1"/>
                </a:solidFill>
                <a:highlight>
                  <a:srgbClr val="FFFFFF"/>
                </a:highlight>
              </a:rPr>
              <a:t>January</a:t>
            </a:r>
            <a:r>
              <a:rPr lang="es" sz="1400">
                <a:solidFill>
                  <a:srgbClr val="1F1F1F"/>
                </a:solidFill>
                <a:highlight>
                  <a:srgbClr val="FFFFFF"/>
                </a:highlight>
              </a:rPr>
              <a:t>, with </a:t>
            </a:r>
            <a:r>
              <a:rPr b="1" lang="es" sz="1400">
                <a:solidFill>
                  <a:schemeClr val="accent3"/>
                </a:solidFill>
                <a:highlight>
                  <a:srgbClr val="FFFFFF"/>
                </a:highlight>
              </a:rPr>
              <a:t>20%</a:t>
            </a:r>
            <a:r>
              <a:rPr lang="es" sz="1400">
                <a:solidFill>
                  <a:srgbClr val="1F1F1F"/>
                </a:solidFill>
                <a:highlight>
                  <a:srgbClr val="FFFFFF"/>
                </a:highlight>
              </a:rPr>
              <a:t> of them being fatal, which aligns with the fact that </a:t>
            </a:r>
            <a:r>
              <a:rPr lang="es" sz="1400">
                <a:solidFill>
                  <a:schemeClr val="dk1"/>
                </a:solidFill>
                <a:highlight>
                  <a:srgbClr val="FFFFFF"/>
                </a:highlight>
              </a:rPr>
              <a:t>summer in Australia spans from December to February.</a:t>
            </a:r>
            <a:endParaRPr sz="1400">
              <a:solidFill>
                <a:schemeClr val="dk2"/>
              </a:solidFill>
              <a:highlight>
                <a:srgbClr val="FFFFFF"/>
              </a:highlight>
            </a:endParaRPr>
          </a:p>
        </p:txBody>
      </p:sp>
      <p:sp>
        <p:nvSpPr>
          <p:cNvPr id="149" name="Google Shape;149;p2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150" name="Google Shape;150;p20"/>
          <p:cNvSpPr txBox="1"/>
          <p:nvPr>
            <p:ph type="title"/>
          </p:nvPr>
        </p:nvSpPr>
        <p:spPr>
          <a:xfrm>
            <a:off x="752850" y="580650"/>
            <a:ext cx="7715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solidFill>
                  <a:schemeClr val="dk1"/>
                </a:solidFill>
              </a:rPr>
              <a:t>3. Exploratory Data Analysis</a:t>
            </a:r>
            <a:endParaRPr>
              <a:solidFill>
                <a:schemeClr val="dk1"/>
              </a:solidFill>
            </a:endParaRPr>
          </a:p>
          <a:p>
            <a:pPr indent="0" lvl="0" marL="0" rtl="0" algn="l">
              <a:spcBef>
                <a:spcPts val="0"/>
              </a:spcBef>
              <a:spcAft>
                <a:spcPts val="0"/>
              </a:spcAft>
              <a:buNone/>
            </a:pPr>
            <a:r>
              <a:t/>
            </a:r>
            <a:endParaRPr>
              <a:solidFill>
                <a:schemeClr val="dk1"/>
              </a:solidFill>
            </a:endParaRPr>
          </a:p>
        </p:txBody>
      </p:sp>
      <p:pic>
        <p:nvPicPr>
          <p:cNvPr id="151" name="Google Shape;151;p20"/>
          <p:cNvPicPr preferRelativeResize="0"/>
          <p:nvPr/>
        </p:nvPicPr>
        <p:blipFill>
          <a:blip r:embed="rId3">
            <a:alphaModFix/>
          </a:blip>
          <a:stretch>
            <a:fillRect/>
          </a:stretch>
        </p:blipFill>
        <p:spPr>
          <a:xfrm>
            <a:off x="190500" y="1819350"/>
            <a:ext cx="5927501" cy="25574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1"/>
          <p:cNvSpPr txBox="1"/>
          <p:nvPr>
            <p:ph idx="1" type="body"/>
          </p:nvPr>
        </p:nvSpPr>
        <p:spPr>
          <a:xfrm>
            <a:off x="6776349" y="1408525"/>
            <a:ext cx="2103300" cy="2931600"/>
          </a:xfrm>
          <a:prstGeom prst="rect">
            <a:avLst/>
          </a:prstGeom>
        </p:spPr>
        <p:txBody>
          <a:bodyPr anchorCtr="0" anchor="t" bIns="91425" lIns="91425" spcFirstLastPara="1" rIns="91425" wrap="square" tIns="91425">
            <a:normAutofit/>
          </a:bodyPr>
          <a:lstStyle/>
          <a:p>
            <a:pPr indent="-178899" lvl="0" marL="179999" rtl="0" algn="l">
              <a:spcBef>
                <a:spcPts val="0"/>
              </a:spcBef>
              <a:spcAft>
                <a:spcPts val="0"/>
              </a:spcAft>
              <a:buSzPts val="1400"/>
              <a:buChar char="●"/>
            </a:pPr>
            <a:r>
              <a:rPr lang="es" sz="1400">
                <a:solidFill>
                  <a:schemeClr val="dk2"/>
                </a:solidFill>
              </a:rPr>
              <a:t>The </a:t>
            </a:r>
            <a:r>
              <a:rPr lang="es" sz="1400">
                <a:solidFill>
                  <a:schemeClr val="dk1"/>
                </a:solidFill>
              </a:rPr>
              <a:t>percentage of fatal cases</a:t>
            </a:r>
            <a:r>
              <a:rPr lang="es" sz="1400">
                <a:solidFill>
                  <a:schemeClr val="dk2"/>
                </a:solidFill>
              </a:rPr>
              <a:t> is higher in countries with a </a:t>
            </a:r>
            <a:r>
              <a:rPr lang="es" sz="1400">
                <a:solidFill>
                  <a:schemeClr val="dk1"/>
                </a:solidFill>
              </a:rPr>
              <a:t>lower number of shark attacks</a:t>
            </a:r>
            <a:r>
              <a:rPr lang="es" sz="1400">
                <a:solidFill>
                  <a:schemeClr val="dk2"/>
                </a:solidFill>
              </a:rPr>
              <a:t>. </a:t>
            </a:r>
            <a:endParaRPr sz="1400">
              <a:solidFill>
                <a:schemeClr val="dk2"/>
              </a:solidFill>
            </a:endParaRPr>
          </a:p>
          <a:p>
            <a:pPr indent="-178899" lvl="0" marL="179999" rtl="0" algn="l">
              <a:spcBef>
                <a:spcPts val="0"/>
              </a:spcBef>
              <a:spcAft>
                <a:spcPts val="0"/>
              </a:spcAft>
              <a:buClr>
                <a:schemeClr val="dk2"/>
              </a:buClr>
              <a:buSzPts val="1400"/>
              <a:buChar char="●"/>
            </a:pPr>
            <a:r>
              <a:rPr lang="es" sz="1400">
                <a:solidFill>
                  <a:schemeClr val="dk2"/>
                </a:solidFill>
              </a:rPr>
              <a:t>For example, in </a:t>
            </a:r>
            <a:r>
              <a:rPr lang="es" sz="1400">
                <a:solidFill>
                  <a:schemeClr val="dk1"/>
                </a:solidFill>
              </a:rPr>
              <a:t>Papua New Guinea </a:t>
            </a:r>
            <a:r>
              <a:rPr lang="es" sz="1400">
                <a:solidFill>
                  <a:schemeClr val="dk2"/>
                </a:solidFill>
              </a:rPr>
              <a:t>and </a:t>
            </a:r>
            <a:r>
              <a:rPr lang="es" sz="1400">
                <a:solidFill>
                  <a:schemeClr val="dk1"/>
                </a:solidFill>
              </a:rPr>
              <a:t>Mexico</a:t>
            </a:r>
            <a:r>
              <a:rPr lang="es" sz="1400">
                <a:solidFill>
                  <a:schemeClr val="dk2"/>
                </a:solidFill>
              </a:rPr>
              <a:t>, more than </a:t>
            </a:r>
            <a:r>
              <a:rPr b="1" lang="es" sz="1400">
                <a:solidFill>
                  <a:schemeClr val="accent3"/>
                </a:solidFill>
              </a:rPr>
              <a:t>45%</a:t>
            </a:r>
            <a:r>
              <a:rPr lang="es" sz="1400">
                <a:solidFill>
                  <a:schemeClr val="accent3"/>
                </a:solidFill>
              </a:rPr>
              <a:t> </a:t>
            </a:r>
            <a:r>
              <a:rPr lang="es" sz="1400">
                <a:solidFill>
                  <a:schemeClr val="dk2"/>
                </a:solidFill>
              </a:rPr>
              <a:t>of shark attacks result in fatalities.</a:t>
            </a:r>
            <a:endParaRPr sz="1400">
              <a:solidFill>
                <a:schemeClr val="dk2"/>
              </a:solidFill>
            </a:endParaRPr>
          </a:p>
        </p:txBody>
      </p:sp>
      <p:sp>
        <p:nvSpPr>
          <p:cNvPr id="157" name="Google Shape;157;p2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158" name="Google Shape;158;p21"/>
          <p:cNvSpPr txBox="1"/>
          <p:nvPr>
            <p:ph type="title"/>
          </p:nvPr>
        </p:nvSpPr>
        <p:spPr>
          <a:xfrm>
            <a:off x="752850" y="580650"/>
            <a:ext cx="7715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solidFill>
                  <a:schemeClr val="dk1"/>
                </a:solidFill>
              </a:rPr>
              <a:t>3. Exploratory Data Analysis</a:t>
            </a:r>
            <a:endParaRPr>
              <a:solidFill>
                <a:schemeClr val="dk1"/>
              </a:solidFill>
            </a:endParaRPr>
          </a:p>
          <a:p>
            <a:pPr indent="0" lvl="0" marL="0" rtl="0" algn="l">
              <a:spcBef>
                <a:spcPts val="0"/>
              </a:spcBef>
              <a:spcAft>
                <a:spcPts val="0"/>
              </a:spcAft>
              <a:buNone/>
            </a:pPr>
            <a:r>
              <a:t/>
            </a:r>
            <a:endParaRPr>
              <a:solidFill>
                <a:schemeClr val="dk1"/>
              </a:solidFill>
            </a:endParaRPr>
          </a:p>
        </p:txBody>
      </p:sp>
      <p:pic>
        <p:nvPicPr>
          <p:cNvPr id="159" name="Google Shape;159;p21"/>
          <p:cNvPicPr preferRelativeResize="0"/>
          <p:nvPr/>
        </p:nvPicPr>
        <p:blipFill>
          <a:blip r:embed="rId3">
            <a:alphaModFix/>
          </a:blip>
          <a:stretch>
            <a:fillRect/>
          </a:stretch>
        </p:blipFill>
        <p:spPr>
          <a:xfrm>
            <a:off x="166950" y="1413963"/>
            <a:ext cx="6460923" cy="3012219"/>
          </a:xfrm>
          <a:prstGeom prst="rect">
            <a:avLst/>
          </a:prstGeom>
          <a:noFill/>
          <a:ln>
            <a:noFill/>
          </a:ln>
        </p:spPr>
      </p:pic>
      <p:sp>
        <p:nvSpPr>
          <p:cNvPr id="160" name="Google Shape;160;p21"/>
          <p:cNvSpPr txBox="1"/>
          <p:nvPr>
            <p:ph idx="1" type="body"/>
          </p:nvPr>
        </p:nvSpPr>
        <p:spPr>
          <a:xfrm>
            <a:off x="412850" y="4460488"/>
            <a:ext cx="4866600" cy="5352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s" sz="900">
                <a:solidFill>
                  <a:schemeClr val="dk2"/>
                </a:solidFill>
              </a:rPr>
              <a:t>% of Total Cases = </a:t>
            </a:r>
            <a:r>
              <a:rPr lang="es" sz="900">
                <a:solidFill>
                  <a:schemeClr val="dk2"/>
                </a:solidFill>
                <a:highlight>
                  <a:srgbClr val="FFFFFF"/>
                </a:highlight>
              </a:rPr>
              <a:t>Total_Cases_by_contry/ Total_Cases * 100</a:t>
            </a:r>
            <a:endParaRPr sz="900">
              <a:solidFill>
                <a:schemeClr val="dk2"/>
              </a:solidFill>
              <a:highlight>
                <a:srgbClr val="FFFFFF"/>
              </a:highlight>
            </a:endParaRPr>
          </a:p>
          <a:p>
            <a:pPr indent="0" lvl="0" marL="0" rtl="0" algn="l">
              <a:lnSpc>
                <a:spcPct val="100000"/>
              </a:lnSpc>
              <a:spcBef>
                <a:spcPts val="1000"/>
              </a:spcBef>
              <a:spcAft>
                <a:spcPts val="0"/>
              </a:spcAft>
              <a:buNone/>
            </a:pPr>
            <a:r>
              <a:rPr lang="es" sz="900">
                <a:solidFill>
                  <a:schemeClr val="dk2"/>
                </a:solidFill>
                <a:highlight>
                  <a:srgbClr val="FFFFFF"/>
                </a:highlight>
              </a:rPr>
              <a:t>% of Fatal Cases  = Fatal_Cases_by_country / Total_Cases_by_country  * 100</a:t>
            </a:r>
            <a:endParaRPr sz="900">
              <a:solidFill>
                <a:schemeClr val="dk2"/>
              </a:solidFill>
              <a:highlight>
                <a:srgbClr val="FFFFFF"/>
              </a:highlight>
            </a:endParaRPr>
          </a:p>
          <a:p>
            <a:pPr indent="0" lvl="0" marL="0" rtl="0" algn="l">
              <a:spcBef>
                <a:spcPts val="1000"/>
              </a:spcBef>
              <a:spcAft>
                <a:spcPts val="1200"/>
              </a:spcAft>
              <a:buNone/>
            </a:pPr>
            <a:r>
              <a:t/>
            </a:r>
            <a:endParaRPr sz="12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2"/>
          <p:cNvSpPr txBox="1"/>
          <p:nvPr>
            <p:ph idx="1" type="body"/>
          </p:nvPr>
        </p:nvSpPr>
        <p:spPr>
          <a:xfrm>
            <a:off x="4617400" y="3446825"/>
            <a:ext cx="3845100" cy="1550700"/>
          </a:xfrm>
          <a:prstGeom prst="rect">
            <a:avLst/>
          </a:prstGeom>
        </p:spPr>
        <p:txBody>
          <a:bodyPr anchorCtr="0" anchor="t" bIns="91425" lIns="91425" spcFirstLastPara="1" rIns="91425" wrap="square" tIns="91425">
            <a:normAutofit/>
          </a:bodyPr>
          <a:lstStyle/>
          <a:p>
            <a:pPr indent="-166199" lvl="0" marL="179999" rtl="0" algn="l">
              <a:spcBef>
                <a:spcPts val="0"/>
              </a:spcBef>
              <a:spcAft>
                <a:spcPts val="0"/>
              </a:spcAft>
              <a:buClr>
                <a:schemeClr val="dk2"/>
              </a:buClr>
              <a:buSzPts val="1200"/>
              <a:buChar char="●"/>
            </a:pPr>
            <a:r>
              <a:rPr b="1" lang="es" sz="1200">
                <a:solidFill>
                  <a:schemeClr val="dk1"/>
                </a:solidFill>
              </a:rPr>
              <a:t>Swimming </a:t>
            </a:r>
            <a:r>
              <a:rPr lang="es" sz="1200">
                <a:solidFill>
                  <a:schemeClr val="dk2"/>
                </a:solidFill>
              </a:rPr>
              <a:t>and</a:t>
            </a:r>
            <a:r>
              <a:rPr b="1" lang="es" sz="1200">
                <a:solidFill>
                  <a:schemeClr val="dk1"/>
                </a:solidFill>
              </a:rPr>
              <a:t> surfing</a:t>
            </a:r>
            <a:r>
              <a:rPr lang="es" sz="1200">
                <a:solidFill>
                  <a:schemeClr val="dk2"/>
                </a:solidFill>
              </a:rPr>
              <a:t> are the most frequent activities associated with shark attacks and resulting in fatal incidents across all countries.</a:t>
            </a:r>
            <a:endParaRPr sz="1200">
              <a:solidFill>
                <a:schemeClr val="dk2"/>
              </a:solidFill>
            </a:endParaRPr>
          </a:p>
          <a:p>
            <a:pPr indent="-166199" lvl="0" marL="179999" rtl="0" algn="l">
              <a:spcBef>
                <a:spcPts val="1000"/>
              </a:spcBef>
              <a:spcAft>
                <a:spcPts val="0"/>
              </a:spcAft>
              <a:buClr>
                <a:schemeClr val="dk2"/>
              </a:buClr>
              <a:buSzPts val="1200"/>
              <a:buChar char="●"/>
            </a:pPr>
            <a:r>
              <a:rPr lang="es" sz="1200">
                <a:solidFill>
                  <a:schemeClr val="dk2"/>
                </a:solidFill>
              </a:rPr>
              <a:t>They are also the leading activities associated with fatal incidents caused by shark attacks in Australia.</a:t>
            </a:r>
            <a:endParaRPr sz="1200">
              <a:solidFill>
                <a:schemeClr val="dk2"/>
              </a:solidFill>
            </a:endParaRPr>
          </a:p>
        </p:txBody>
      </p:sp>
      <p:sp>
        <p:nvSpPr>
          <p:cNvPr id="166" name="Google Shape;166;p2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167" name="Google Shape;167;p22"/>
          <p:cNvSpPr txBox="1"/>
          <p:nvPr>
            <p:ph type="title"/>
          </p:nvPr>
        </p:nvSpPr>
        <p:spPr>
          <a:xfrm>
            <a:off x="752850" y="580650"/>
            <a:ext cx="7715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solidFill>
                  <a:schemeClr val="dk1"/>
                </a:solidFill>
              </a:rPr>
              <a:t>3. Exploratory Data Analysis</a:t>
            </a:r>
            <a:endParaRPr>
              <a:solidFill>
                <a:schemeClr val="dk1"/>
              </a:solidFill>
            </a:endParaRPr>
          </a:p>
          <a:p>
            <a:pPr indent="0" lvl="0" marL="0" rtl="0" algn="l">
              <a:spcBef>
                <a:spcPts val="0"/>
              </a:spcBef>
              <a:spcAft>
                <a:spcPts val="0"/>
              </a:spcAft>
              <a:buNone/>
            </a:pPr>
            <a:r>
              <a:t/>
            </a:r>
            <a:endParaRPr>
              <a:solidFill>
                <a:schemeClr val="dk1"/>
              </a:solidFill>
            </a:endParaRPr>
          </a:p>
        </p:txBody>
      </p:sp>
      <p:sp>
        <p:nvSpPr>
          <p:cNvPr id="168" name="Google Shape;168;p22"/>
          <p:cNvSpPr txBox="1"/>
          <p:nvPr>
            <p:ph type="title"/>
          </p:nvPr>
        </p:nvSpPr>
        <p:spPr>
          <a:xfrm>
            <a:off x="603100" y="1197819"/>
            <a:ext cx="4014300" cy="535200"/>
          </a:xfrm>
          <a:prstGeom prst="rect">
            <a:avLst/>
          </a:prstGeom>
          <a:solidFill>
            <a:schemeClr val="lt1"/>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sz="1400">
                <a:solidFill>
                  <a:schemeClr val="accent3"/>
                </a:solidFill>
                <a:latin typeface="Lato"/>
                <a:ea typeface="Lato"/>
                <a:cs typeface="Lato"/>
                <a:sym typeface="Lato"/>
              </a:rPr>
              <a:t>Top activities provoked fatal cases</a:t>
            </a:r>
            <a:endParaRPr sz="1400">
              <a:solidFill>
                <a:schemeClr val="accent3"/>
              </a:solidFill>
              <a:latin typeface="Lato"/>
              <a:ea typeface="Lato"/>
              <a:cs typeface="Lato"/>
              <a:sym typeface="Lato"/>
            </a:endParaRPr>
          </a:p>
          <a:p>
            <a:pPr indent="0" lvl="0" marL="0" rtl="0" algn="l">
              <a:spcBef>
                <a:spcPts val="0"/>
              </a:spcBef>
              <a:spcAft>
                <a:spcPts val="0"/>
              </a:spcAft>
              <a:buNone/>
            </a:pPr>
            <a:r>
              <a:t/>
            </a:r>
            <a:endParaRPr>
              <a:solidFill>
                <a:schemeClr val="dk1"/>
              </a:solidFill>
              <a:latin typeface="Lato"/>
              <a:ea typeface="Lato"/>
              <a:cs typeface="Lato"/>
              <a:sym typeface="Lato"/>
            </a:endParaRPr>
          </a:p>
        </p:txBody>
      </p:sp>
      <p:pic>
        <p:nvPicPr>
          <p:cNvPr id="169" name="Google Shape;169;p22"/>
          <p:cNvPicPr preferRelativeResize="0"/>
          <p:nvPr/>
        </p:nvPicPr>
        <p:blipFill>
          <a:blip r:embed="rId3">
            <a:alphaModFix/>
          </a:blip>
          <a:stretch>
            <a:fillRect/>
          </a:stretch>
        </p:blipFill>
        <p:spPr>
          <a:xfrm>
            <a:off x="641800" y="1606770"/>
            <a:ext cx="2813740" cy="1349075"/>
          </a:xfrm>
          <a:prstGeom prst="rect">
            <a:avLst/>
          </a:prstGeom>
          <a:noFill/>
          <a:ln cap="flat" cmpd="sng" w="19050">
            <a:solidFill>
              <a:srgbClr val="D1D5DB"/>
            </a:solidFill>
            <a:prstDash val="solid"/>
            <a:round/>
            <a:headEnd len="sm" w="sm" type="none"/>
            <a:tailEnd len="sm" w="sm" type="none"/>
          </a:ln>
        </p:spPr>
      </p:pic>
      <p:sp>
        <p:nvSpPr>
          <p:cNvPr id="170" name="Google Shape;170;p22"/>
          <p:cNvSpPr txBox="1"/>
          <p:nvPr>
            <p:ph type="title"/>
          </p:nvPr>
        </p:nvSpPr>
        <p:spPr>
          <a:xfrm>
            <a:off x="641813" y="3073861"/>
            <a:ext cx="3289200" cy="535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1300">
                <a:solidFill>
                  <a:schemeClr val="dk1"/>
                </a:solidFill>
                <a:latin typeface="Lato"/>
                <a:ea typeface="Lato"/>
                <a:cs typeface="Lato"/>
                <a:sym typeface="Lato"/>
              </a:rPr>
              <a:t>Top activities provoked attacks</a:t>
            </a:r>
            <a:endParaRPr sz="1300">
              <a:solidFill>
                <a:schemeClr val="dk1"/>
              </a:solidFill>
              <a:latin typeface="Lato"/>
              <a:ea typeface="Lato"/>
              <a:cs typeface="Lato"/>
              <a:sym typeface="Lato"/>
            </a:endParaRPr>
          </a:p>
        </p:txBody>
      </p:sp>
      <p:pic>
        <p:nvPicPr>
          <p:cNvPr id="171" name="Google Shape;171;p22"/>
          <p:cNvPicPr preferRelativeResize="0"/>
          <p:nvPr/>
        </p:nvPicPr>
        <p:blipFill rotWithShape="1">
          <a:blip r:embed="rId4">
            <a:alphaModFix/>
          </a:blip>
          <a:srcRect b="0" l="0" r="0" t="4214"/>
          <a:stretch/>
        </p:blipFill>
        <p:spPr>
          <a:xfrm>
            <a:off x="641823" y="3504445"/>
            <a:ext cx="2858354" cy="1370475"/>
          </a:xfrm>
          <a:prstGeom prst="rect">
            <a:avLst/>
          </a:prstGeom>
          <a:noFill/>
          <a:ln cap="flat" cmpd="sng" w="19050">
            <a:solidFill>
              <a:srgbClr val="D1D5DB"/>
            </a:solidFill>
            <a:prstDash val="solid"/>
            <a:round/>
            <a:headEnd len="sm" w="sm" type="none"/>
            <a:tailEnd len="sm" w="sm" type="none"/>
          </a:ln>
        </p:spPr>
      </p:pic>
      <p:grpSp>
        <p:nvGrpSpPr>
          <p:cNvPr id="172" name="Google Shape;172;p22"/>
          <p:cNvGrpSpPr/>
          <p:nvPr/>
        </p:nvGrpSpPr>
        <p:grpSpPr>
          <a:xfrm>
            <a:off x="4617404" y="1591136"/>
            <a:ext cx="3141585" cy="1349075"/>
            <a:chOff x="5378879" y="3835074"/>
            <a:chExt cx="3050971" cy="1349075"/>
          </a:xfrm>
        </p:grpSpPr>
        <p:pic>
          <p:nvPicPr>
            <p:cNvPr id="173" name="Google Shape;173;p22"/>
            <p:cNvPicPr preferRelativeResize="0"/>
            <p:nvPr/>
          </p:nvPicPr>
          <p:blipFill rotWithShape="1">
            <a:blip r:embed="rId5">
              <a:alphaModFix/>
            </a:blip>
            <a:srcRect b="47087" l="59125" r="0" t="0"/>
            <a:stretch/>
          </p:blipFill>
          <p:spPr>
            <a:xfrm>
              <a:off x="6016332" y="3835074"/>
              <a:ext cx="2413518" cy="1336525"/>
            </a:xfrm>
            <a:prstGeom prst="rect">
              <a:avLst/>
            </a:prstGeom>
            <a:noFill/>
            <a:ln cap="flat" cmpd="sng" w="19050">
              <a:solidFill>
                <a:srgbClr val="D1D5DB"/>
              </a:solidFill>
              <a:prstDash val="solid"/>
              <a:round/>
              <a:headEnd len="sm" w="sm" type="none"/>
              <a:tailEnd len="sm" w="sm" type="none"/>
            </a:ln>
          </p:spPr>
        </p:pic>
        <p:pic>
          <p:nvPicPr>
            <p:cNvPr id="174" name="Google Shape;174;p22"/>
            <p:cNvPicPr preferRelativeResize="0"/>
            <p:nvPr/>
          </p:nvPicPr>
          <p:blipFill rotWithShape="1">
            <a:blip r:embed="rId5">
              <a:alphaModFix/>
            </a:blip>
            <a:srcRect b="47087" l="0" r="89718" t="0"/>
            <a:stretch/>
          </p:blipFill>
          <p:spPr>
            <a:xfrm>
              <a:off x="5378879" y="3835074"/>
              <a:ext cx="607095" cy="1349075"/>
            </a:xfrm>
            <a:prstGeom prst="rect">
              <a:avLst/>
            </a:prstGeom>
            <a:noFill/>
            <a:ln cap="flat" cmpd="sng" w="19050">
              <a:solidFill>
                <a:srgbClr val="D1D5DB"/>
              </a:solidFill>
              <a:prstDash val="solid"/>
              <a:round/>
              <a:headEnd len="sm" w="sm" type="none"/>
              <a:tailEnd len="sm" w="sm" type="none"/>
            </a:ln>
          </p:spPr>
        </p:pic>
      </p:grpSp>
      <p:sp>
        <p:nvSpPr>
          <p:cNvPr id="175" name="Google Shape;175;p22"/>
          <p:cNvSpPr/>
          <p:nvPr/>
        </p:nvSpPr>
        <p:spPr>
          <a:xfrm>
            <a:off x="641825" y="1026600"/>
            <a:ext cx="1094400" cy="234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76" name="Google Shape;176;p22"/>
          <p:cNvSpPr txBox="1"/>
          <p:nvPr>
            <p:ph type="title"/>
          </p:nvPr>
        </p:nvSpPr>
        <p:spPr>
          <a:xfrm>
            <a:off x="4617400" y="1182183"/>
            <a:ext cx="38451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300">
                <a:solidFill>
                  <a:schemeClr val="accent3"/>
                </a:solidFill>
                <a:latin typeface="Lato"/>
                <a:ea typeface="Lato"/>
                <a:cs typeface="Lato"/>
                <a:sym typeface="Lato"/>
              </a:rPr>
              <a:t>Top activities provoked fatal cases in AUS</a:t>
            </a:r>
            <a:endParaRPr sz="1300">
              <a:solidFill>
                <a:schemeClr val="accent3"/>
              </a:solidFill>
              <a:latin typeface="Lato"/>
              <a:ea typeface="Lato"/>
              <a:cs typeface="Lato"/>
              <a:sym typeface="Lato"/>
            </a:endParaRPr>
          </a:p>
          <a:p>
            <a:pPr indent="0" lvl="0" marL="0" rtl="0" algn="l">
              <a:spcBef>
                <a:spcPts val="0"/>
              </a:spcBef>
              <a:spcAft>
                <a:spcPts val="0"/>
              </a:spcAft>
              <a:buNone/>
            </a:pPr>
            <a:r>
              <a:t/>
            </a:r>
            <a:endParaRPr sz="1300">
              <a:solidFill>
                <a:schemeClr val="dk1"/>
              </a:solidFill>
              <a:latin typeface="Lato"/>
              <a:ea typeface="Lato"/>
              <a:cs typeface="Lato"/>
              <a:sym typeface="La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3"/>
          <p:cNvSpPr txBox="1"/>
          <p:nvPr>
            <p:ph idx="1" type="body"/>
          </p:nvPr>
        </p:nvSpPr>
        <p:spPr>
          <a:xfrm>
            <a:off x="752850" y="1336504"/>
            <a:ext cx="8079600" cy="3772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s" sz="1400">
                <a:solidFill>
                  <a:srgbClr val="000000"/>
                </a:solidFill>
              </a:rPr>
              <a:t>Agreed on the hypothesis and defined the scope of the project:</a:t>
            </a:r>
            <a:endParaRPr b="1" sz="1400">
              <a:solidFill>
                <a:srgbClr val="000000"/>
              </a:solidFill>
            </a:endParaRPr>
          </a:p>
          <a:p>
            <a:pPr indent="-317500" lvl="0" marL="457200" rtl="0" algn="l">
              <a:spcBef>
                <a:spcPts val="1000"/>
              </a:spcBef>
              <a:spcAft>
                <a:spcPts val="0"/>
              </a:spcAft>
              <a:buClr>
                <a:srgbClr val="000000"/>
              </a:buClr>
              <a:buSzPts val="1400"/>
              <a:buChar char="●"/>
            </a:pPr>
            <a:r>
              <a:rPr b="1" lang="es" sz="1400">
                <a:solidFill>
                  <a:schemeClr val="accent3"/>
                </a:solidFill>
              </a:rPr>
              <a:t>Obstacle:</a:t>
            </a:r>
            <a:r>
              <a:rPr lang="es" sz="1400">
                <a:solidFill>
                  <a:schemeClr val="accent3"/>
                </a:solidFill>
              </a:rPr>
              <a:t> </a:t>
            </a:r>
            <a:r>
              <a:rPr lang="es" sz="1400">
                <a:solidFill>
                  <a:srgbClr val="000000"/>
                </a:solidFill>
              </a:rPr>
              <a:t>At the beginning, we aimed to analyze a larger dataset with more columns to find correlations between shark species, the number of attacks, and the age of victims in the top countries. However, the scope was too large and complicated to manage.</a:t>
            </a:r>
            <a:endParaRPr sz="1400">
              <a:solidFill>
                <a:srgbClr val="000000"/>
              </a:solidFill>
            </a:endParaRPr>
          </a:p>
          <a:p>
            <a:pPr indent="-317500" lvl="0" marL="457200" rtl="0" algn="l">
              <a:spcBef>
                <a:spcPts val="1000"/>
              </a:spcBef>
              <a:spcAft>
                <a:spcPts val="0"/>
              </a:spcAft>
              <a:buClr>
                <a:srgbClr val="000000"/>
              </a:buClr>
              <a:buSzPts val="1400"/>
              <a:buChar char="●"/>
            </a:pPr>
            <a:r>
              <a:rPr lang="es" sz="1400">
                <a:solidFill>
                  <a:schemeClr val="dk1"/>
                </a:solidFill>
              </a:rPr>
              <a:t> </a:t>
            </a:r>
            <a:r>
              <a:rPr b="1" lang="es" sz="1400">
                <a:solidFill>
                  <a:schemeClr val="dk1"/>
                </a:solidFill>
              </a:rPr>
              <a:t>Solution:</a:t>
            </a:r>
            <a:r>
              <a:rPr lang="es" sz="1400">
                <a:solidFill>
                  <a:schemeClr val="dk1"/>
                </a:solidFill>
              </a:rPr>
              <a:t> </a:t>
            </a:r>
            <a:r>
              <a:rPr lang="es" sz="1400">
                <a:solidFill>
                  <a:srgbClr val="000000"/>
                </a:solidFill>
              </a:rPr>
              <a:t>We limited the scope of the project to the country level (Australia) and focused on the number of attacks and fatal cases by month, and we formulated two hypotheses to be tested.</a:t>
            </a:r>
            <a:endParaRPr sz="1400">
              <a:solidFill>
                <a:srgbClr val="000000"/>
              </a:solidFill>
            </a:endParaRPr>
          </a:p>
          <a:p>
            <a:pPr indent="0" lvl="0" marL="0" rtl="0" algn="l">
              <a:spcBef>
                <a:spcPts val="1000"/>
              </a:spcBef>
              <a:spcAft>
                <a:spcPts val="0"/>
              </a:spcAft>
              <a:buNone/>
            </a:pPr>
            <a:r>
              <a:rPr b="1" lang="es" sz="1400">
                <a:solidFill>
                  <a:srgbClr val="000000"/>
                </a:solidFill>
              </a:rPr>
              <a:t>What we learned:</a:t>
            </a:r>
            <a:endParaRPr b="1" sz="1400">
              <a:solidFill>
                <a:srgbClr val="000000"/>
              </a:solidFill>
            </a:endParaRPr>
          </a:p>
          <a:p>
            <a:pPr indent="-317500" lvl="0" marL="457200" rtl="0" algn="l">
              <a:spcBef>
                <a:spcPts val="1000"/>
              </a:spcBef>
              <a:spcAft>
                <a:spcPts val="0"/>
              </a:spcAft>
              <a:buClr>
                <a:srgbClr val="000000"/>
              </a:buClr>
              <a:buSzPts val="1400"/>
              <a:buFont typeface="Arial"/>
              <a:buChar char="●"/>
            </a:pPr>
            <a:r>
              <a:rPr lang="es" sz="1400">
                <a:solidFill>
                  <a:srgbClr val="000000"/>
                </a:solidFill>
              </a:rPr>
              <a:t>We needed a visual representation of our findings through graphs, so we revisited the prework to explore the usage of the </a:t>
            </a:r>
            <a:r>
              <a:rPr lang="es" sz="1400">
                <a:solidFill>
                  <a:srgbClr val="188038"/>
                </a:solidFill>
              </a:rPr>
              <a:t>matplotlib.pyplot</a:t>
            </a:r>
            <a:r>
              <a:rPr lang="es" sz="1400">
                <a:solidFill>
                  <a:srgbClr val="000000"/>
                </a:solidFill>
              </a:rPr>
              <a:t> library.</a:t>
            </a:r>
            <a:endParaRPr sz="1400">
              <a:solidFill>
                <a:srgbClr val="000000"/>
              </a:solidFill>
            </a:endParaRPr>
          </a:p>
          <a:p>
            <a:pPr indent="-317500" lvl="0" marL="457200" rtl="0" algn="l">
              <a:spcBef>
                <a:spcPts val="1000"/>
              </a:spcBef>
              <a:spcAft>
                <a:spcPts val="0"/>
              </a:spcAft>
              <a:buClr>
                <a:srgbClr val="000000"/>
              </a:buClr>
              <a:buSzPts val="1400"/>
              <a:buFont typeface="Arial"/>
              <a:buChar char="●"/>
            </a:pPr>
            <a:r>
              <a:rPr lang="es" sz="1400">
                <a:solidFill>
                  <a:srgbClr val="000000"/>
                </a:solidFill>
              </a:rPr>
              <a:t>To obtain cleaned date strings with numbers only and no ordinal suffixes for further processing (e.g., converting to </a:t>
            </a:r>
            <a:r>
              <a:rPr lang="es" sz="1400">
                <a:solidFill>
                  <a:srgbClr val="188038"/>
                </a:solidFill>
              </a:rPr>
              <a:t>datetime</a:t>
            </a:r>
            <a:r>
              <a:rPr lang="es" sz="1400">
                <a:solidFill>
                  <a:srgbClr val="000000"/>
                </a:solidFill>
              </a:rPr>
              <a:t>), we applied the </a:t>
            </a:r>
            <a:r>
              <a:rPr lang="es" sz="1400">
                <a:solidFill>
                  <a:schemeClr val="dk1"/>
                </a:solidFill>
              </a:rPr>
              <a:t>regex</a:t>
            </a:r>
            <a:r>
              <a:rPr lang="es" sz="1400">
                <a:solidFill>
                  <a:srgbClr val="000000"/>
                </a:solidFill>
              </a:rPr>
              <a:t> method and referred to the extra lesson on this topic in the student portal.</a:t>
            </a:r>
            <a:br>
              <a:rPr lang="es"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0" lvl="0" marL="0" marR="381000" rtl="0" algn="l">
              <a:spcBef>
                <a:spcPts val="1200"/>
              </a:spcBef>
              <a:spcAft>
                <a:spcPts val="0"/>
              </a:spcAft>
              <a:buNone/>
            </a:pPr>
            <a:r>
              <a:t/>
            </a:r>
            <a:endParaRPr sz="1100">
              <a:solidFill>
                <a:srgbClr val="188038"/>
              </a:solidFill>
              <a:latin typeface="Roboto Mono"/>
              <a:ea typeface="Roboto Mono"/>
              <a:cs typeface="Roboto Mono"/>
              <a:sym typeface="Roboto Mono"/>
            </a:endParaRPr>
          </a:p>
          <a:p>
            <a:pPr indent="0" lvl="0" marL="0" marR="381000" rtl="0" algn="l">
              <a:spcBef>
                <a:spcPts val="1200"/>
              </a:spcBef>
              <a:spcAft>
                <a:spcPts val="0"/>
              </a:spcAft>
              <a:buNone/>
            </a:pPr>
            <a:r>
              <a:t/>
            </a:r>
            <a:endParaRPr sz="1400">
              <a:solidFill>
                <a:schemeClr val="dk2"/>
              </a:solidFill>
            </a:endParaRPr>
          </a:p>
          <a:p>
            <a:pPr indent="0" lvl="0" marL="0" marR="381000" rtl="0" algn="l">
              <a:spcBef>
                <a:spcPts val="1200"/>
              </a:spcBef>
              <a:spcAft>
                <a:spcPts val="0"/>
              </a:spcAft>
              <a:buNone/>
            </a:pPr>
            <a:r>
              <a:t/>
            </a:r>
            <a:endParaRPr sz="1400">
              <a:solidFill>
                <a:schemeClr val="dk2"/>
              </a:solidFill>
            </a:endParaRPr>
          </a:p>
          <a:p>
            <a:pPr indent="0" lvl="0" marL="0" rtl="0" algn="l">
              <a:spcBef>
                <a:spcPts val="1200"/>
              </a:spcBef>
              <a:spcAft>
                <a:spcPts val="1200"/>
              </a:spcAft>
              <a:buNone/>
            </a:pPr>
            <a:r>
              <a:t/>
            </a:r>
            <a:endParaRPr sz="1400">
              <a:solidFill>
                <a:schemeClr val="dk2"/>
              </a:solidFill>
            </a:endParaRPr>
          </a:p>
        </p:txBody>
      </p:sp>
      <p:sp>
        <p:nvSpPr>
          <p:cNvPr id="182" name="Google Shape;182;p2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183" name="Google Shape;183;p23"/>
          <p:cNvSpPr txBox="1"/>
          <p:nvPr>
            <p:ph type="title"/>
          </p:nvPr>
        </p:nvSpPr>
        <p:spPr>
          <a:xfrm>
            <a:off x="752850" y="580650"/>
            <a:ext cx="7715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solidFill>
                  <a:schemeClr val="dk1"/>
                </a:solidFill>
              </a:rPr>
              <a:t>4. Major Obstacle</a:t>
            </a:r>
            <a:endParaRPr>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4"/>
          <p:cNvSpPr txBox="1"/>
          <p:nvPr>
            <p:ph idx="1" type="body"/>
          </p:nvPr>
        </p:nvSpPr>
        <p:spPr>
          <a:xfrm>
            <a:off x="752850" y="1371375"/>
            <a:ext cx="8079600" cy="36450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lang="es" sz="1200">
                <a:solidFill>
                  <a:schemeClr val="accent3"/>
                </a:solidFill>
              </a:rPr>
              <a:t>Date Formatting</a:t>
            </a:r>
            <a:endParaRPr b="1" sz="1200">
              <a:solidFill>
                <a:schemeClr val="accent3"/>
              </a:solidFill>
            </a:endParaRPr>
          </a:p>
          <a:p>
            <a:pPr indent="-304800" lvl="0" marL="457200" marR="381000" rtl="0" algn="l">
              <a:spcBef>
                <a:spcPts val="1200"/>
              </a:spcBef>
              <a:spcAft>
                <a:spcPts val="0"/>
              </a:spcAft>
              <a:buClr>
                <a:schemeClr val="dk2"/>
              </a:buClr>
              <a:buSzPts val="1200"/>
              <a:buChar char="●"/>
            </a:pPr>
            <a:r>
              <a:rPr lang="es" sz="1200">
                <a:solidFill>
                  <a:schemeClr val="dk2"/>
                </a:solidFill>
              </a:rPr>
              <a:t>The Date column contains many different formats, making standardization challenging.</a:t>
            </a:r>
            <a:endParaRPr sz="1200">
              <a:solidFill>
                <a:schemeClr val="dk2"/>
              </a:solidFill>
            </a:endParaRPr>
          </a:p>
          <a:p>
            <a:pPr indent="-304800" lvl="0" marL="457200" marR="381000" rtl="0" algn="l">
              <a:spcBef>
                <a:spcPts val="0"/>
              </a:spcBef>
              <a:spcAft>
                <a:spcPts val="0"/>
              </a:spcAft>
              <a:buClr>
                <a:schemeClr val="dk2"/>
              </a:buClr>
              <a:buSzPts val="1200"/>
              <a:buChar char="●"/>
            </a:pPr>
            <a:r>
              <a:rPr lang="es" sz="1200">
                <a:solidFill>
                  <a:schemeClr val="dk2"/>
                </a:solidFill>
              </a:rPr>
              <a:t>Dates need to be cleaned and converted to a consistent datetime format.</a:t>
            </a:r>
            <a:endParaRPr sz="1200">
              <a:solidFill>
                <a:schemeClr val="dk2"/>
              </a:solidFill>
            </a:endParaRPr>
          </a:p>
          <a:p>
            <a:pPr indent="-304800" lvl="0" marL="457200" marR="381000" rtl="0" algn="l">
              <a:spcBef>
                <a:spcPts val="0"/>
              </a:spcBef>
              <a:spcAft>
                <a:spcPts val="0"/>
              </a:spcAft>
              <a:buClr>
                <a:schemeClr val="dk2"/>
              </a:buClr>
              <a:buSzPts val="1200"/>
              <a:buChar char="●"/>
            </a:pPr>
            <a:r>
              <a:rPr lang="es" sz="1200">
                <a:solidFill>
                  <a:schemeClr val="dk2"/>
                </a:solidFill>
              </a:rPr>
              <a:t>After cleaning, we observed that only </a:t>
            </a:r>
            <a:r>
              <a:rPr lang="es" sz="1200">
                <a:solidFill>
                  <a:schemeClr val="dk1"/>
                </a:solidFill>
              </a:rPr>
              <a:t>46 out of 7,024</a:t>
            </a:r>
            <a:r>
              <a:rPr lang="es" sz="1200">
                <a:solidFill>
                  <a:schemeClr val="dk2"/>
                </a:solidFill>
              </a:rPr>
              <a:t> rows contain valid Month information.</a:t>
            </a:r>
            <a:endParaRPr sz="1200">
              <a:solidFill>
                <a:schemeClr val="dk2"/>
              </a:solidFill>
            </a:endParaRPr>
          </a:p>
          <a:p>
            <a:pPr indent="0" lvl="0" marL="0" rtl="0" algn="l">
              <a:spcBef>
                <a:spcPts val="1200"/>
              </a:spcBef>
              <a:spcAft>
                <a:spcPts val="0"/>
              </a:spcAft>
              <a:buNone/>
            </a:pPr>
            <a:r>
              <a:rPr b="1" lang="es" sz="1200">
                <a:solidFill>
                  <a:schemeClr val="accent3"/>
                </a:solidFill>
              </a:rPr>
              <a:t>Country Data Issues</a:t>
            </a:r>
            <a:endParaRPr b="1" sz="1200">
              <a:solidFill>
                <a:schemeClr val="accent3"/>
              </a:solidFill>
            </a:endParaRPr>
          </a:p>
          <a:p>
            <a:pPr indent="-304800" lvl="0" marL="457200" rtl="0" algn="l">
              <a:spcBef>
                <a:spcPts val="1200"/>
              </a:spcBef>
              <a:spcAft>
                <a:spcPts val="0"/>
              </a:spcAft>
              <a:buClr>
                <a:schemeClr val="dk2"/>
              </a:buClr>
              <a:buSzPts val="1200"/>
              <a:buChar char="●"/>
            </a:pPr>
            <a:r>
              <a:rPr b="1" lang="es" sz="1200">
                <a:solidFill>
                  <a:schemeClr val="dk2"/>
                </a:solidFill>
              </a:rPr>
              <a:t>Misspelled country names</a:t>
            </a:r>
            <a:r>
              <a:rPr lang="es" sz="1200">
                <a:solidFill>
                  <a:schemeClr val="dk2"/>
                </a:solidFill>
              </a:rPr>
              <a:t> (e.g., </a:t>
            </a:r>
            <a:r>
              <a:rPr i="1" lang="es" sz="1200">
                <a:solidFill>
                  <a:schemeClr val="dk2"/>
                </a:solidFill>
              </a:rPr>
              <a:t>“Columbia” → “Colombia”</a:t>
            </a:r>
            <a:r>
              <a:rPr lang="es" sz="1200">
                <a:solidFill>
                  <a:schemeClr val="dk2"/>
                </a:solidFill>
              </a:rPr>
              <a:t>).</a:t>
            </a:r>
            <a:endParaRPr sz="1200">
              <a:solidFill>
                <a:schemeClr val="dk2"/>
              </a:solidFill>
            </a:endParaRPr>
          </a:p>
          <a:p>
            <a:pPr indent="-304800" lvl="0" marL="457200" rtl="0" algn="l">
              <a:spcBef>
                <a:spcPts val="0"/>
              </a:spcBef>
              <a:spcAft>
                <a:spcPts val="0"/>
              </a:spcAft>
              <a:buClr>
                <a:schemeClr val="dk2"/>
              </a:buClr>
              <a:buSzPts val="1200"/>
              <a:buChar char="●"/>
            </a:pPr>
            <a:r>
              <a:rPr b="1" lang="es" sz="1200">
                <a:solidFill>
                  <a:schemeClr val="dk2"/>
                </a:solidFill>
              </a:rPr>
              <a:t>Territories that are not countries</a:t>
            </a:r>
            <a:r>
              <a:rPr lang="es" sz="1200">
                <a:solidFill>
                  <a:schemeClr val="dk2"/>
                </a:solidFill>
              </a:rPr>
              <a:t> (e.g., </a:t>
            </a:r>
            <a:r>
              <a:rPr i="1" lang="es" sz="1200">
                <a:solidFill>
                  <a:schemeClr val="dk2"/>
                </a:solidFill>
              </a:rPr>
              <a:t>“Virgin Islands”, “New Caledonia”, “Samoa”</a:t>
            </a:r>
            <a:r>
              <a:rPr lang="es" sz="1200">
                <a:solidFill>
                  <a:schemeClr val="dk2"/>
                </a:solidFill>
              </a:rPr>
              <a:t>).</a:t>
            </a:r>
            <a:endParaRPr sz="1200">
              <a:solidFill>
                <a:schemeClr val="dk2"/>
              </a:solidFill>
            </a:endParaRPr>
          </a:p>
          <a:p>
            <a:pPr indent="-304800" lvl="0" marL="457200" rtl="0" algn="l">
              <a:spcBef>
                <a:spcPts val="0"/>
              </a:spcBef>
              <a:spcAft>
                <a:spcPts val="0"/>
              </a:spcAft>
              <a:buClr>
                <a:schemeClr val="dk2"/>
              </a:buClr>
              <a:buSzPts val="1200"/>
              <a:buChar char="●"/>
            </a:pPr>
            <a:r>
              <a:rPr b="1" lang="es" sz="1200">
                <a:solidFill>
                  <a:schemeClr val="dk2"/>
                </a:solidFill>
              </a:rPr>
              <a:t>Regions or islands incorrectly listed as countries</a:t>
            </a:r>
            <a:r>
              <a:rPr lang="es" sz="1200">
                <a:solidFill>
                  <a:schemeClr val="dk2"/>
                </a:solidFill>
              </a:rPr>
              <a:t> (e.g., </a:t>
            </a:r>
            <a:r>
              <a:rPr i="1" lang="es" sz="1200">
                <a:solidFill>
                  <a:schemeClr val="dk2"/>
                </a:solidFill>
              </a:rPr>
              <a:t>“Coral Sea”, “Atlantic Ocean”</a:t>
            </a:r>
            <a:r>
              <a:rPr lang="es" sz="1200">
                <a:solidFill>
                  <a:schemeClr val="dk2"/>
                </a:solidFill>
              </a:rPr>
              <a:t>).</a:t>
            </a:r>
            <a:endParaRPr sz="1200">
              <a:solidFill>
                <a:schemeClr val="dk2"/>
              </a:solidFill>
            </a:endParaRPr>
          </a:p>
          <a:p>
            <a:pPr indent="-304800" lvl="0" marL="457200" rtl="0" algn="l">
              <a:spcBef>
                <a:spcPts val="0"/>
              </a:spcBef>
              <a:spcAft>
                <a:spcPts val="0"/>
              </a:spcAft>
              <a:buClr>
                <a:schemeClr val="dk2"/>
              </a:buClr>
              <a:buSzPts val="1200"/>
              <a:buChar char="●"/>
            </a:pPr>
            <a:r>
              <a:rPr b="1" lang="es" sz="1200">
                <a:solidFill>
                  <a:schemeClr val="dk2"/>
                </a:solidFill>
              </a:rPr>
              <a:t>Correct countries with multiple naming variations</a:t>
            </a:r>
            <a:r>
              <a:rPr lang="es" sz="1200">
                <a:solidFill>
                  <a:schemeClr val="dk2"/>
                </a:solidFill>
              </a:rPr>
              <a:t> (e.g., </a:t>
            </a:r>
            <a:r>
              <a:rPr i="1" lang="es" sz="1200">
                <a:solidFill>
                  <a:schemeClr val="dk2"/>
                </a:solidFill>
              </a:rPr>
              <a:t>“USA”, “U.S.A.”, “Usa” → “United States”</a:t>
            </a:r>
            <a:r>
              <a:rPr lang="es" sz="1200">
                <a:solidFill>
                  <a:schemeClr val="dk2"/>
                </a:solidFill>
              </a:rPr>
              <a:t>).</a:t>
            </a:r>
            <a:endParaRPr sz="1200">
              <a:solidFill>
                <a:schemeClr val="dk2"/>
              </a:solidFill>
            </a:endParaRPr>
          </a:p>
          <a:p>
            <a:pPr indent="0" lvl="0" marL="0" rtl="0" algn="l">
              <a:spcBef>
                <a:spcPts val="1200"/>
              </a:spcBef>
              <a:spcAft>
                <a:spcPts val="0"/>
              </a:spcAft>
              <a:buNone/>
            </a:pPr>
            <a:r>
              <a:rPr b="1" lang="es" sz="1200">
                <a:solidFill>
                  <a:schemeClr val="accent3"/>
                </a:solidFill>
              </a:rPr>
              <a:t>Fatal Y/N </a:t>
            </a:r>
            <a:endParaRPr b="1" sz="1200">
              <a:solidFill>
                <a:schemeClr val="accent3"/>
              </a:solidFill>
            </a:endParaRPr>
          </a:p>
          <a:p>
            <a:pPr indent="-304800" lvl="0" marL="457200" marR="381000" rtl="0" algn="l">
              <a:spcBef>
                <a:spcPts val="1200"/>
              </a:spcBef>
              <a:spcAft>
                <a:spcPts val="0"/>
              </a:spcAft>
              <a:buClr>
                <a:schemeClr val="dk2"/>
              </a:buClr>
              <a:buSzPts val="1200"/>
              <a:buChar char="●"/>
            </a:pPr>
            <a:r>
              <a:rPr lang="es" sz="1200">
                <a:solidFill>
                  <a:schemeClr val="dk2"/>
                </a:solidFill>
              </a:rPr>
              <a:t>More than three possible options are present in the column.</a:t>
            </a:r>
            <a:endParaRPr sz="1200">
              <a:solidFill>
                <a:schemeClr val="dk2"/>
              </a:solidFill>
            </a:endParaRPr>
          </a:p>
          <a:p>
            <a:pPr indent="-304800" lvl="0" marL="457200" marR="381000" rtl="0" algn="l">
              <a:spcBef>
                <a:spcPts val="0"/>
              </a:spcBef>
              <a:spcAft>
                <a:spcPts val="0"/>
              </a:spcAft>
              <a:buClr>
                <a:schemeClr val="dk2"/>
              </a:buClr>
              <a:buSzPts val="1200"/>
              <a:buChar char="●"/>
            </a:pPr>
            <a:r>
              <a:rPr lang="es" sz="1200">
                <a:solidFill>
                  <a:schemeClr val="dk2"/>
                </a:solidFill>
              </a:rPr>
              <a:t>The data was cleaned and normalized to retain only three categories: “Y”, “N”, and “UNKNOWN”.</a:t>
            </a:r>
            <a:endParaRPr sz="1200">
              <a:solidFill>
                <a:schemeClr val="dk2"/>
              </a:solidFill>
            </a:endParaRPr>
          </a:p>
        </p:txBody>
      </p:sp>
      <p:sp>
        <p:nvSpPr>
          <p:cNvPr id="189" name="Google Shape;189;p2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190" name="Google Shape;190;p24"/>
          <p:cNvSpPr txBox="1"/>
          <p:nvPr>
            <p:ph type="title"/>
          </p:nvPr>
        </p:nvSpPr>
        <p:spPr>
          <a:xfrm>
            <a:off x="752850" y="580650"/>
            <a:ext cx="7715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solidFill>
                  <a:schemeClr val="dk1"/>
                </a:solidFill>
              </a:rPr>
              <a:t>4</a:t>
            </a:r>
            <a:r>
              <a:rPr lang="es">
                <a:solidFill>
                  <a:schemeClr val="dk1"/>
                </a:solidFill>
              </a:rPr>
              <a:t>. Major Obstacle - Zoom on data cleaning</a:t>
            </a:r>
            <a:endParaRPr>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5"/>
          <p:cNvSpPr txBox="1"/>
          <p:nvPr>
            <p:ph idx="1" type="body"/>
          </p:nvPr>
        </p:nvSpPr>
        <p:spPr>
          <a:xfrm>
            <a:off x="729450" y="1386200"/>
            <a:ext cx="7688700" cy="3363600"/>
          </a:xfrm>
          <a:prstGeom prst="rect">
            <a:avLst/>
          </a:prstGeom>
        </p:spPr>
        <p:txBody>
          <a:bodyPr anchorCtr="0" anchor="t" bIns="91425" lIns="91425" spcFirstLastPara="1" rIns="91425" wrap="square" tIns="91425">
            <a:noAutofit/>
          </a:bodyPr>
          <a:lstStyle/>
          <a:p>
            <a:pPr indent="0" lvl="0" marL="0" rtl="0" algn="l">
              <a:lnSpc>
                <a:spcPct val="100000"/>
              </a:lnSpc>
              <a:spcBef>
                <a:spcPts val="400"/>
              </a:spcBef>
              <a:spcAft>
                <a:spcPts val="0"/>
              </a:spcAft>
              <a:buNone/>
            </a:pPr>
            <a:r>
              <a:rPr b="1" lang="es" sz="1400">
                <a:solidFill>
                  <a:schemeClr val="accent3"/>
                </a:solidFill>
              </a:rPr>
              <a:t>Hypothesis 1: According to the regular news, there are many  shark attacks in Australia.</a:t>
            </a:r>
            <a:endParaRPr b="1" sz="1400">
              <a:solidFill>
                <a:schemeClr val="accent3"/>
              </a:solidFill>
            </a:endParaRPr>
          </a:p>
          <a:p>
            <a:pPr indent="-317500" lvl="0" marL="457200" rtl="0" algn="l">
              <a:spcBef>
                <a:spcPts val="1200"/>
              </a:spcBef>
              <a:spcAft>
                <a:spcPts val="0"/>
              </a:spcAft>
              <a:buClr>
                <a:schemeClr val="dk2"/>
              </a:buClr>
              <a:buSzPts val="1400"/>
              <a:buAutoNum type="arabicPeriod"/>
            </a:pPr>
            <a:r>
              <a:rPr b="1" lang="es" sz="1400">
                <a:solidFill>
                  <a:schemeClr val="dk2"/>
                </a:solidFill>
              </a:rPr>
              <a:t>T</a:t>
            </a:r>
            <a:r>
              <a:rPr b="1" lang="es" sz="1400">
                <a:solidFill>
                  <a:schemeClr val="dk2"/>
                </a:solidFill>
              </a:rPr>
              <a:t>he United States, Australia </a:t>
            </a:r>
            <a:r>
              <a:rPr lang="es" sz="1400">
                <a:solidFill>
                  <a:schemeClr val="dk2"/>
                </a:solidFill>
              </a:rPr>
              <a:t>and</a:t>
            </a:r>
            <a:r>
              <a:rPr b="1" lang="es" sz="1400">
                <a:solidFill>
                  <a:schemeClr val="dk2"/>
                </a:solidFill>
              </a:rPr>
              <a:t> South Africa</a:t>
            </a:r>
            <a:r>
              <a:rPr lang="es" sz="1400">
                <a:solidFill>
                  <a:schemeClr val="dk2"/>
                </a:solidFill>
              </a:rPr>
              <a:t> are the top three countries with the highest number of fatal shark attack incidents.</a:t>
            </a:r>
            <a:endParaRPr sz="1400">
              <a:solidFill>
                <a:schemeClr val="dk2"/>
              </a:solidFill>
            </a:endParaRPr>
          </a:p>
          <a:p>
            <a:pPr indent="-317500" lvl="0" marL="457200" rtl="0" algn="l">
              <a:spcBef>
                <a:spcPts val="1200"/>
              </a:spcBef>
              <a:spcAft>
                <a:spcPts val="0"/>
              </a:spcAft>
              <a:buClr>
                <a:schemeClr val="dk2"/>
              </a:buClr>
              <a:buSzPts val="1400"/>
              <a:buAutoNum type="arabicPeriod"/>
            </a:pPr>
            <a:r>
              <a:rPr b="1" lang="es" sz="1400">
                <a:solidFill>
                  <a:schemeClr val="dk2"/>
                </a:solidFill>
              </a:rPr>
              <a:t>Australia</a:t>
            </a:r>
            <a:r>
              <a:rPr lang="es" sz="1400">
                <a:solidFill>
                  <a:schemeClr val="dk2"/>
                </a:solidFill>
              </a:rPr>
              <a:t> accounts for</a:t>
            </a:r>
            <a:r>
              <a:rPr b="1" lang="es" sz="1400">
                <a:solidFill>
                  <a:schemeClr val="dk2"/>
                </a:solidFill>
              </a:rPr>
              <a:t> </a:t>
            </a:r>
            <a:r>
              <a:rPr b="1" lang="es" sz="1400">
                <a:solidFill>
                  <a:schemeClr val="accent3"/>
                </a:solidFill>
              </a:rPr>
              <a:t>22%</a:t>
            </a:r>
            <a:r>
              <a:rPr lang="es" sz="1400">
                <a:solidFill>
                  <a:schemeClr val="accent3"/>
                </a:solidFill>
              </a:rPr>
              <a:t> </a:t>
            </a:r>
            <a:r>
              <a:rPr lang="es" sz="1400">
                <a:solidFill>
                  <a:schemeClr val="dk2"/>
                </a:solidFill>
              </a:rPr>
              <a:t>of fatal shark attacks, making it the country with the highest number of fatal cases.</a:t>
            </a:r>
            <a:endParaRPr sz="1400">
              <a:solidFill>
                <a:schemeClr val="dk2"/>
              </a:solidFill>
            </a:endParaRPr>
          </a:p>
          <a:p>
            <a:pPr indent="0" lvl="0" marL="0" rtl="0" algn="l">
              <a:spcBef>
                <a:spcPts val="1200"/>
              </a:spcBef>
              <a:spcAft>
                <a:spcPts val="0"/>
              </a:spcAft>
              <a:buNone/>
            </a:pPr>
            <a:r>
              <a:rPr b="1" lang="es" sz="1400">
                <a:solidFill>
                  <a:schemeClr val="accent3"/>
                </a:solidFill>
              </a:rPr>
              <a:t>Hypothesis 2: There are more shark attacks during the summer in Australia, with a higher number Fatal cases. </a:t>
            </a:r>
            <a:endParaRPr b="1" sz="1400">
              <a:solidFill>
                <a:schemeClr val="accent3"/>
              </a:solidFill>
            </a:endParaRPr>
          </a:p>
          <a:p>
            <a:pPr indent="-317500" lvl="0" marL="457200" rtl="0" algn="l">
              <a:spcBef>
                <a:spcPts val="1200"/>
              </a:spcBef>
              <a:spcAft>
                <a:spcPts val="0"/>
              </a:spcAft>
              <a:buClr>
                <a:schemeClr val="dk2"/>
              </a:buClr>
              <a:buSzPts val="1400"/>
              <a:buAutoNum type="arabicPeriod"/>
            </a:pPr>
            <a:r>
              <a:rPr b="1" lang="es" sz="1400">
                <a:solidFill>
                  <a:schemeClr val="accent3"/>
                </a:solidFill>
              </a:rPr>
              <a:t>31%</a:t>
            </a:r>
            <a:r>
              <a:rPr lang="es" sz="1400">
                <a:solidFill>
                  <a:schemeClr val="dk2"/>
                </a:solidFill>
              </a:rPr>
              <a:t> of shark attacks occurred in </a:t>
            </a:r>
            <a:r>
              <a:rPr lang="es" sz="1400">
                <a:solidFill>
                  <a:schemeClr val="dk1"/>
                </a:solidFill>
              </a:rPr>
              <a:t>January</a:t>
            </a:r>
            <a:r>
              <a:rPr lang="es" sz="1400">
                <a:solidFill>
                  <a:schemeClr val="dk2"/>
                </a:solidFill>
              </a:rPr>
              <a:t> in Australia, which is approximately </a:t>
            </a:r>
            <a:r>
              <a:rPr b="1" lang="es" sz="1400">
                <a:solidFill>
                  <a:schemeClr val="accent3"/>
                </a:solidFill>
              </a:rPr>
              <a:t>63%</a:t>
            </a:r>
            <a:r>
              <a:rPr b="1" lang="es" sz="1400">
                <a:solidFill>
                  <a:schemeClr val="dk2"/>
                </a:solidFill>
              </a:rPr>
              <a:t> </a:t>
            </a:r>
            <a:r>
              <a:rPr lang="es" sz="1400">
                <a:solidFill>
                  <a:schemeClr val="dk2"/>
                </a:solidFill>
              </a:rPr>
              <a:t>higher than in November, the month with the second-highest number of attacks.</a:t>
            </a:r>
            <a:endParaRPr sz="1400">
              <a:solidFill>
                <a:schemeClr val="dk2"/>
              </a:solidFill>
            </a:endParaRPr>
          </a:p>
          <a:p>
            <a:pPr indent="-317500" lvl="0" marL="457200" rtl="0" algn="l">
              <a:spcBef>
                <a:spcPts val="1200"/>
              </a:spcBef>
              <a:spcAft>
                <a:spcPts val="1000"/>
              </a:spcAft>
              <a:buClr>
                <a:schemeClr val="dk2"/>
              </a:buClr>
              <a:buSzPts val="1400"/>
              <a:buAutoNum type="arabicPeriod"/>
            </a:pPr>
            <a:r>
              <a:rPr b="1" lang="es" sz="1400">
                <a:solidFill>
                  <a:schemeClr val="dk2"/>
                </a:solidFill>
              </a:rPr>
              <a:t>Australia</a:t>
            </a:r>
            <a:r>
              <a:rPr lang="es" sz="1400">
                <a:solidFill>
                  <a:schemeClr val="dk2"/>
                </a:solidFill>
              </a:rPr>
              <a:t> accounts for </a:t>
            </a:r>
            <a:r>
              <a:rPr b="1" lang="es" sz="1400">
                <a:solidFill>
                  <a:schemeClr val="accent3"/>
                </a:solidFill>
              </a:rPr>
              <a:t>20%</a:t>
            </a:r>
            <a:r>
              <a:rPr lang="es" sz="1400">
                <a:solidFill>
                  <a:schemeClr val="dk2"/>
                </a:solidFill>
              </a:rPr>
              <a:t> of fatal cases that occurred in </a:t>
            </a:r>
            <a:r>
              <a:rPr lang="es" sz="1400">
                <a:solidFill>
                  <a:schemeClr val="dk1"/>
                </a:solidFill>
              </a:rPr>
              <a:t>January</a:t>
            </a:r>
            <a:r>
              <a:rPr lang="es" sz="1400">
                <a:solidFill>
                  <a:schemeClr val="dk2"/>
                </a:solidFill>
              </a:rPr>
              <a:t>, which is the summer season in the country.</a:t>
            </a:r>
            <a:endParaRPr sz="1400">
              <a:solidFill>
                <a:schemeClr val="dk2"/>
              </a:solidFill>
            </a:endParaRPr>
          </a:p>
        </p:txBody>
      </p:sp>
      <p:sp>
        <p:nvSpPr>
          <p:cNvPr id="196" name="Google Shape;196;p2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pic>
        <p:nvPicPr>
          <p:cNvPr id="197" name="Google Shape;197;p25"/>
          <p:cNvPicPr preferRelativeResize="0"/>
          <p:nvPr/>
        </p:nvPicPr>
        <p:blipFill>
          <a:blip r:embed="rId3">
            <a:alphaModFix amt="15000"/>
          </a:blip>
          <a:stretch>
            <a:fillRect/>
          </a:stretch>
        </p:blipFill>
        <p:spPr>
          <a:xfrm rot="3296884">
            <a:off x="6749070" y="593338"/>
            <a:ext cx="2384338" cy="1797577"/>
          </a:xfrm>
          <a:prstGeom prst="rect">
            <a:avLst/>
          </a:prstGeom>
          <a:noFill/>
          <a:ln>
            <a:noFill/>
          </a:ln>
        </p:spPr>
      </p:pic>
      <p:sp>
        <p:nvSpPr>
          <p:cNvPr id="198" name="Google Shape;198;p25"/>
          <p:cNvSpPr txBox="1"/>
          <p:nvPr>
            <p:ph type="title"/>
          </p:nvPr>
        </p:nvSpPr>
        <p:spPr>
          <a:xfrm>
            <a:off x="752850" y="580650"/>
            <a:ext cx="7715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solidFill>
                  <a:schemeClr val="dk1"/>
                </a:solidFill>
              </a:rPr>
              <a:t>5</a:t>
            </a:r>
            <a:r>
              <a:rPr lang="es">
                <a:solidFill>
                  <a:schemeClr val="dk1"/>
                </a:solidFill>
              </a:rPr>
              <a:t>. Conclusion and Insights</a:t>
            </a:r>
            <a:endParaRPr>
              <a:solidFill>
                <a:schemeClr val="dk1"/>
              </a:solidFill>
            </a:endParaRPr>
          </a:p>
        </p:txBody>
      </p:sp>
      <p:pic>
        <p:nvPicPr>
          <p:cNvPr id="199" name="Google Shape;199;p25"/>
          <p:cNvPicPr preferRelativeResize="0"/>
          <p:nvPr/>
        </p:nvPicPr>
        <p:blipFill>
          <a:blip r:embed="rId4">
            <a:alphaModFix/>
          </a:blip>
          <a:stretch>
            <a:fillRect/>
          </a:stretch>
        </p:blipFill>
        <p:spPr>
          <a:xfrm>
            <a:off x="7811100" y="475800"/>
            <a:ext cx="977475" cy="9774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205" name="Google Shape;205;p26"/>
          <p:cNvSpPr txBox="1"/>
          <p:nvPr>
            <p:ph type="title"/>
          </p:nvPr>
        </p:nvSpPr>
        <p:spPr>
          <a:xfrm>
            <a:off x="752850" y="580650"/>
            <a:ext cx="7715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solidFill>
                  <a:schemeClr val="dk1"/>
                </a:solidFill>
              </a:rPr>
              <a:t>5. Conclusion and Insights</a:t>
            </a:r>
            <a:endParaRPr>
              <a:solidFill>
                <a:schemeClr val="dk1"/>
              </a:solidFill>
            </a:endParaRPr>
          </a:p>
        </p:txBody>
      </p:sp>
      <p:sp>
        <p:nvSpPr>
          <p:cNvPr id="206" name="Google Shape;206;p26"/>
          <p:cNvSpPr txBox="1"/>
          <p:nvPr>
            <p:ph idx="1" type="body"/>
          </p:nvPr>
        </p:nvSpPr>
        <p:spPr>
          <a:xfrm>
            <a:off x="727650" y="1349915"/>
            <a:ext cx="7688700" cy="27243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lang="es" sz="1400">
                <a:solidFill>
                  <a:schemeClr val="accent3"/>
                </a:solidFill>
              </a:rPr>
              <a:t>Surprising</a:t>
            </a:r>
            <a:r>
              <a:rPr b="1" lang="es" sz="1400">
                <a:solidFill>
                  <a:schemeClr val="accent3"/>
                </a:solidFill>
              </a:rPr>
              <a:t> fact:</a:t>
            </a:r>
            <a:endParaRPr b="1" sz="1400">
              <a:solidFill>
                <a:schemeClr val="accent3"/>
              </a:solidFill>
            </a:endParaRPr>
          </a:p>
          <a:p>
            <a:pPr indent="-317500" lvl="0" marL="457200" rtl="0" algn="l">
              <a:spcBef>
                <a:spcPts val="1200"/>
              </a:spcBef>
              <a:spcAft>
                <a:spcPts val="0"/>
              </a:spcAft>
              <a:buClr>
                <a:schemeClr val="dk2"/>
              </a:buClr>
              <a:buSzPts val="1400"/>
              <a:buChar char="➔"/>
            </a:pPr>
            <a:r>
              <a:rPr lang="es" sz="1400">
                <a:solidFill>
                  <a:schemeClr val="dk2"/>
                </a:solidFill>
              </a:rPr>
              <a:t>France was identified as the 5th country with the highest numberof shark attacks. When we are thinking about France we are not really </a:t>
            </a:r>
            <a:r>
              <a:rPr lang="es" sz="1400">
                <a:solidFill>
                  <a:schemeClr val="dk2"/>
                </a:solidFill>
              </a:rPr>
              <a:t>considering</a:t>
            </a:r>
            <a:r>
              <a:rPr lang="es" sz="1400">
                <a:solidFill>
                  <a:schemeClr val="dk2"/>
                </a:solidFill>
              </a:rPr>
              <a:t> Corsica and the Overseas French territories like  Reunion Island.</a:t>
            </a:r>
            <a:endParaRPr sz="1400">
              <a:solidFill>
                <a:schemeClr val="dk2"/>
              </a:solidFill>
            </a:endParaRPr>
          </a:p>
          <a:p>
            <a:pPr indent="0" lvl="0" marL="0" rtl="0" algn="l">
              <a:spcBef>
                <a:spcPts val="1200"/>
              </a:spcBef>
              <a:spcAft>
                <a:spcPts val="0"/>
              </a:spcAft>
              <a:buNone/>
            </a:pPr>
            <a:r>
              <a:rPr b="1" lang="es" sz="1400">
                <a:solidFill>
                  <a:schemeClr val="accent3"/>
                </a:solidFill>
              </a:rPr>
              <a:t>Overall</a:t>
            </a:r>
            <a:r>
              <a:rPr b="1" lang="es" sz="1400">
                <a:solidFill>
                  <a:schemeClr val="accent3"/>
                </a:solidFill>
              </a:rPr>
              <a:t> implications:</a:t>
            </a:r>
            <a:endParaRPr b="1" sz="1400">
              <a:solidFill>
                <a:schemeClr val="accent3"/>
              </a:solidFill>
            </a:endParaRPr>
          </a:p>
          <a:p>
            <a:pPr indent="-317500" lvl="0" marL="457200" rtl="0" algn="l">
              <a:spcBef>
                <a:spcPts val="1200"/>
              </a:spcBef>
              <a:spcAft>
                <a:spcPts val="0"/>
              </a:spcAft>
              <a:buClr>
                <a:srgbClr val="000000"/>
              </a:buClr>
              <a:buSzPts val="1400"/>
              <a:buChar char="➔"/>
            </a:pPr>
            <a:r>
              <a:rPr lang="es" sz="1400">
                <a:solidFill>
                  <a:srgbClr val="000000"/>
                </a:solidFill>
              </a:rPr>
              <a:t>S</a:t>
            </a:r>
            <a:r>
              <a:rPr lang="es" sz="1400">
                <a:solidFill>
                  <a:srgbClr val="000000"/>
                </a:solidFill>
              </a:rPr>
              <a:t>h</a:t>
            </a:r>
            <a:r>
              <a:rPr lang="es" sz="1400">
                <a:solidFill>
                  <a:srgbClr val="000000"/>
                </a:solidFill>
              </a:rPr>
              <a:t>ark attacks show </a:t>
            </a:r>
            <a:r>
              <a:rPr b="1" lang="es" sz="1400">
                <a:solidFill>
                  <a:srgbClr val="000000"/>
                </a:solidFill>
              </a:rPr>
              <a:t>clear temporal (seasonal) and geographical patterns</a:t>
            </a:r>
            <a:r>
              <a:rPr lang="es" sz="1400">
                <a:solidFill>
                  <a:srgbClr val="000000"/>
                </a:solidFill>
              </a:rPr>
              <a:t>.</a:t>
            </a:r>
            <a:endParaRPr sz="1400">
              <a:solidFill>
                <a:srgbClr val="000000"/>
              </a:solidFill>
            </a:endParaRPr>
          </a:p>
          <a:p>
            <a:pPr indent="-317500" lvl="0" marL="457200" rtl="0" algn="l">
              <a:spcBef>
                <a:spcPts val="0"/>
              </a:spcBef>
              <a:spcAft>
                <a:spcPts val="0"/>
              </a:spcAft>
              <a:buClr>
                <a:srgbClr val="000000"/>
              </a:buClr>
              <a:buSzPts val="1400"/>
              <a:buChar char="➔"/>
            </a:pPr>
            <a:r>
              <a:rPr lang="es" sz="1400">
                <a:solidFill>
                  <a:srgbClr val="000000"/>
                </a:solidFill>
              </a:rPr>
              <a:t>Risk increases during periods of high human-water interaction.</a:t>
            </a:r>
            <a:endParaRPr sz="1400">
              <a:solidFill>
                <a:srgbClr val="000000"/>
              </a:solidFill>
            </a:endParaRPr>
          </a:p>
          <a:p>
            <a:pPr indent="-317500" lvl="0" marL="457200" rtl="0" algn="l">
              <a:spcBef>
                <a:spcPts val="0"/>
              </a:spcBef>
              <a:spcAft>
                <a:spcPts val="0"/>
              </a:spcAft>
              <a:buClr>
                <a:srgbClr val="000000"/>
              </a:buClr>
              <a:buSzPts val="1400"/>
              <a:buChar char="➔"/>
            </a:pPr>
            <a:r>
              <a:rPr lang="es" sz="1400">
                <a:solidFill>
                  <a:srgbClr val="000000"/>
                </a:solidFill>
              </a:rPr>
              <a:t>Prevention strategies should be:</a:t>
            </a:r>
            <a:endParaRPr sz="1400">
              <a:solidFill>
                <a:srgbClr val="000000"/>
              </a:solidFill>
            </a:endParaRPr>
          </a:p>
          <a:p>
            <a:pPr indent="-317499" lvl="0" marL="899999" rtl="0" algn="l">
              <a:spcBef>
                <a:spcPts val="0"/>
              </a:spcBef>
              <a:spcAft>
                <a:spcPts val="0"/>
              </a:spcAft>
              <a:buClr>
                <a:srgbClr val="000000"/>
              </a:buClr>
              <a:buSzPts val="1400"/>
              <a:buFont typeface="Lato"/>
              <a:buChar char="○"/>
            </a:pPr>
            <a:r>
              <a:rPr lang="es" sz="1400">
                <a:solidFill>
                  <a:srgbClr val="000000"/>
                </a:solidFill>
              </a:rPr>
              <a:t>Season-specific</a:t>
            </a:r>
            <a:endParaRPr sz="1400">
              <a:solidFill>
                <a:srgbClr val="000000"/>
              </a:solidFill>
            </a:endParaRPr>
          </a:p>
          <a:p>
            <a:pPr indent="-317499" lvl="0" marL="899999" rtl="0" algn="l">
              <a:spcBef>
                <a:spcPts val="0"/>
              </a:spcBef>
              <a:spcAft>
                <a:spcPts val="0"/>
              </a:spcAft>
              <a:buClr>
                <a:srgbClr val="000000"/>
              </a:buClr>
              <a:buSzPts val="1400"/>
              <a:buFont typeface="Lato"/>
              <a:buChar char="○"/>
            </a:pPr>
            <a:r>
              <a:rPr lang="es" sz="1400">
                <a:solidFill>
                  <a:srgbClr val="000000"/>
                </a:solidFill>
              </a:rPr>
              <a:t>Location-specific</a:t>
            </a:r>
            <a:endParaRPr sz="1400">
              <a:solidFill>
                <a:srgbClr val="000000"/>
              </a:solidFill>
            </a:endParaRPr>
          </a:p>
          <a:p>
            <a:pPr indent="-317499" lvl="0" marL="899999" rtl="0" algn="l">
              <a:spcBef>
                <a:spcPts val="0"/>
              </a:spcBef>
              <a:spcAft>
                <a:spcPts val="0"/>
              </a:spcAft>
              <a:buClr>
                <a:srgbClr val="000000"/>
              </a:buClr>
              <a:buSzPts val="1400"/>
              <a:buFont typeface="Lato"/>
              <a:buChar char="○"/>
            </a:pPr>
            <a:r>
              <a:rPr lang="es" sz="1400">
                <a:solidFill>
                  <a:srgbClr val="000000"/>
                </a:solidFill>
              </a:rPr>
              <a:t>Activity-focused (e.g., swimming, surfing)</a:t>
            </a:r>
            <a:endParaRPr sz="1400">
              <a:solidFill>
                <a:srgbClr val="000000"/>
              </a:solidFill>
            </a:endParaRPr>
          </a:p>
          <a:p>
            <a:pPr indent="0" lvl="0" marL="0" rtl="0" algn="l">
              <a:spcBef>
                <a:spcPts val="1200"/>
              </a:spcBef>
              <a:spcAft>
                <a:spcPts val="1000"/>
              </a:spcAft>
              <a:buNone/>
            </a:pPr>
            <a:r>
              <a:t/>
            </a:r>
            <a:endParaRPr b="1" sz="1400">
              <a:solidFill>
                <a:schemeClr val="accent3"/>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7"/>
          <p:cNvSpPr txBox="1"/>
          <p:nvPr>
            <p:ph type="title"/>
          </p:nvPr>
        </p:nvSpPr>
        <p:spPr>
          <a:xfrm>
            <a:off x="311700" y="1037625"/>
            <a:ext cx="8520600" cy="21267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es" sz="3800"/>
              <a:t>Thank you for your attention!</a:t>
            </a:r>
            <a:endParaRPr b="1" sz="3800"/>
          </a:p>
        </p:txBody>
      </p:sp>
      <p:sp>
        <p:nvSpPr>
          <p:cNvPr id="212" name="Google Shape;212;p27"/>
          <p:cNvSpPr txBox="1"/>
          <p:nvPr>
            <p:ph idx="1" type="body"/>
          </p:nvPr>
        </p:nvSpPr>
        <p:spPr>
          <a:xfrm>
            <a:off x="311700" y="3061875"/>
            <a:ext cx="8520600" cy="1506900"/>
          </a:xfrm>
          <a:prstGeom prst="rect">
            <a:avLst/>
          </a:prstGeom>
        </p:spPr>
        <p:txBody>
          <a:bodyPr anchorCtr="0" anchor="t" bIns="91425" lIns="91425" spcFirstLastPara="1" rIns="91425" wrap="square" tIns="91425">
            <a:normAutofit/>
          </a:bodyPr>
          <a:lstStyle/>
          <a:p>
            <a:pPr indent="0" lvl="0" marL="0" rtl="0" algn="ctr">
              <a:lnSpc>
                <a:spcPct val="100000"/>
              </a:lnSpc>
              <a:spcBef>
                <a:spcPts val="0"/>
              </a:spcBef>
              <a:spcAft>
                <a:spcPts val="0"/>
              </a:spcAft>
              <a:buClr>
                <a:schemeClr val="dk1"/>
              </a:buClr>
              <a:buSzPts val="1100"/>
              <a:buFont typeface="Arial"/>
              <a:buNone/>
            </a:pPr>
            <a:r>
              <a:rPr lang="es" sz="2800"/>
              <a:t>Diego Fronero</a:t>
            </a:r>
            <a:endParaRPr sz="2800"/>
          </a:p>
          <a:p>
            <a:pPr indent="0" lvl="0" marL="0" rtl="0" algn="ctr">
              <a:lnSpc>
                <a:spcPct val="100000"/>
              </a:lnSpc>
              <a:spcBef>
                <a:spcPts val="0"/>
              </a:spcBef>
              <a:spcAft>
                <a:spcPts val="0"/>
              </a:spcAft>
              <a:buClr>
                <a:schemeClr val="dk1"/>
              </a:buClr>
              <a:buSzPts val="1100"/>
              <a:buFont typeface="Arial"/>
              <a:buNone/>
            </a:pPr>
            <a:r>
              <a:rPr lang="es" sz="2800"/>
              <a:t>Olga Galanina</a:t>
            </a:r>
            <a:endParaRPr sz="2800"/>
          </a:p>
          <a:p>
            <a:pPr indent="0" lvl="0" marL="0" rtl="0" algn="ctr">
              <a:lnSpc>
                <a:spcPct val="100000"/>
              </a:lnSpc>
              <a:spcBef>
                <a:spcPts val="0"/>
              </a:spcBef>
              <a:spcAft>
                <a:spcPts val="0"/>
              </a:spcAft>
              <a:buClr>
                <a:schemeClr val="dk1"/>
              </a:buClr>
              <a:buSzPts val="1100"/>
              <a:buFont typeface="Arial"/>
              <a:buNone/>
            </a:pPr>
            <a:r>
              <a:rPr lang="es" sz="2800"/>
              <a:t>Lucila Gonzalez</a:t>
            </a:r>
            <a:endParaRPr/>
          </a:p>
        </p:txBody>
      </p:sp>
      <p:sp>
        <p:nvSpPr>
          <p:cNvPr id="213" name="Google Shape;213;p2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17" name="Shape 217"/>
        <p:cNvGrpSpPr/>
        <p:nvPr/>
      </p:nvGrpSpPr>
      <p:grpSpPr>
        <a:xfrm>
          <a:off x="0" y="0"/>
          <a:ext cx="0" cy="0"/>
          <a:chOff x="0" y="0"/>
          <a:chExt cx="0" cy="0"/>
        </a:xfrm>
      </p:grpSpPr>
      <p:sp>
        <p:nvSpPr>
          <p:cNvPr id="218" name="Google Shape;218;p2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Comments from the Notebook</a:t>
            </a:r>
            <a:endParaRPr/>
          </a:p>
        </p:txBody>
      </p:sp>
      <p:sp>
        <p:nvSpPr>
          <p:cNvPr id="219" name="Google Shape;219;p28"/>
          <p:cNvSpPr txBox="1"/>
          <p:nvPr>
            <p:ph idx="1" type="body"/>
          </p:nvPr>
        </p:nvSpPr>
        <p:spPr>
          <a:xfrm>
            <a:off x="245525" y="2078875"/>
            <a:ext cx="4648200" cy="2261100"/>
          </a:xfrm>
          <a:prstGeom prst="rect">
            <a:avLst/>
          </a:prstGeom>
        </p:spPr>
        <p:txBody>
          <a:bodyPr anchorCtr="0" anchor="t" bIns="91425" lIns="91425" spcFirstLastPara="1" rIns="91425" wrap="square" tIns="91425">
            <a:noAutofit/>
          </a:bodyPr>
          <a:lstStyle/>
          <a:p>
            <a:pPr indent="0" lvl="0" marL="0" rtl="0" algn="l">
              <a:lnSpc>
                <a:spcPct val="125714"/>
              </a:lnSpc>
              <a:spcBef>
                <a:spcPts val="0"/>
              </a:spcBef>
              <a:spcAft>
                <a:spcPts val="0"/>
              </a:spcAft>
              <a:buSzPts val="275"/>
              <a:buNone/>
            </a:pPr>
            <a:r>
              <a:rPr lang="es" sz="962">
                <a:solidFill>
                  <a:srgbClr val="000000"/>
                </a:solidFill>
                <a:highlight>
                  <a:srgbClr val="FFFFFF"/>
                </a:highlight>
              </a:rPr>
              <a:t>Comments :</a:t>
            </a:r>
            <a:endParaRPr sz="962">
              <a:solidFill>
                <a:srgbClr val="000000"/>
              </a:solidFill>
              <a:highlight>
                <a:srgbClr val="FFFFFF"/>
              </a:highlight>
            </a:endParaRPr>
          </a:p>
          <a:p>
            <a:pPr indent="0" lvl="0" marL="0" rtl="0" algn="l">
              <a:lnSpc>
                <a:spcPct val="125714"/>
              </a:lnSpc>
              <a:spcBef>
                <a:spcPts val="0"/>
              </a:spcBef>
              <a:spcAft>
                <a:spcPts val="0"/>
              </a:spcAft>
              <a:buSzPts val="275"/>
              <a:buNone/>
            </a:pPr>
            <a:r>
              <a:rPr lang="es" sz="962">
                <a:solidFill>
                  <a:srgbClr val="000000"/>
                </a:solidFill>
                <a:highlight>
                  <a:srgbClr val="FFFFFF"/>
                </a:highlight>
              </a:rPr>
              <a:t>Date: change the data type from float</a:t>
            </a:r>
            <a:endParaRPr sz="962">
              <a:solidFill>
                <a:srgbClr val="000000"/>
              </a:solidFill>
              <a:highlight>
                <a:srgbClr val="FFFFFF"/>
              </a:highlight>
            </a:endParaRPr>
          </a:p>
          <a:p>
            <a:pPr indent="0" lvl="0" marL="0" rtl="0" algn="l">
              <a:lnSpc>
                <a:spcPct val="125714"/>
              </a:lnSpc>
              <a:spcBef>
                <a:spcPts val="0"/>
              </a:spcBef>
              <a:spcAft>
                <a:spcPts val="0"/>
              </a:spcAft>
              <a:buSzPts val="275"/>
              <a:buNone/>
            </a:pPr>
            <a:r>
              <a:rPr lang="es" sz="962">
                <a:solidFill>
                  <a:srgbClr val="000000"/>
                </a:solidFill>
                <a:highlight>
                  <a:srgbClr val="FFFFFF"/>
                </a:highlight>
              </a:rPr>
              <a:t>Year: change from float to int</a:t>
            </a:r>
            <a:endParaRPr sz="962">
              <a:solidFill>
                <a:srgbClr val="000000"/>
              </a:solidFill>
              <a:highlight>
                <a:srgbClr val="FFFFFF"/>
              </a:highlight>
            </a:endParaRPr>
          </a:p>
          <a:p>
            <a:pPr indent="0" lvl="0" marL="0" rtl="0" algn="l">
              <a:lnSpc>
                <a:spcPct val="125714"/>
              </a:lnSpc>
              <a:spcBef>
                <a:spcPts val="0"/>
              </a:spcBef>
              <a:spcAft>
                <a:spcPts val="0"/>
              </a:spcAft>
              <a:buSzPts val="275"/>
              <a:buNone/>
            </a:pPr>
            <a:r>
              <a:rPr lang="es" sz="962">
                <a:solidFill>
                  <a:srgbClr val="000000"/>
                </a:solidFill>
                <a:highlight>
                  <a:srgbClr val="FFFFFF"/>
                </a:highlight>
              </a:rPr>
              <a:t>Type: OK</a:t>
            </a:r>
            <a:endParaRPr sz="962">
              <a:solidFill>
                <a:srgbClr val="000000"/>
              </a:solidFill>
              <a:highlight>
                <a:srgbClr val="FFFFFF"/>
              </a:highlight>
            </a:endParaRPr>
          </a:p>
          <a:p>
            <a:pPr indent="0" lvl="0" marL="0" rtl="0" algn="l">
              <a:lnSpc>
                <a:spcPct val="125714"/>
              </a:lnSpc>
              <a:spcBef>
                <a:spcPts val="0"/>
              </a:spcBef>
              <a:spcAft>
                <a:spcPts val="0"/>
              </a:spcAft>
              <a:buSzPts val="275"/>
              <a:buNone/>
            </a:pPr>
            <a:r>
              <a:rPr lang="es" sz="962">
                <a:solidFill>
                  <a:srgbClr val="000000"/>
                </a:solidFill>
                <a:highlight>
                  <a:srgbClr val="FFFFFF"/>
                </a:highlight>
              </a:rPr>
              <a:t>Country: 1 - Check the empty cells ; 2 - Check uppercase or lowercase ; 3 - Clean duplicates</a:t>
            </a:r>
            <a:endParaRPr sz="962">
              <a:solidFill>
                <a:srgbClr val="000000"/>
              </a:solidFill>
              <a:highlight>
                <a:srgbClr val="FFFFFF"/>
              </a:highlight>
            </a:endParaRPr>
          </a:p>
          <a:p>
            <a:pPr indent="0" lvl="0" marL="0" rtl="0" algn="l">
              <a:lnSpc>
                <a:spcPct val="125714"/>
              </a:lnSpc>
              <a:spcBef>
                <a:spcPts val="0"/>
              </a:spcBef>
              <a:spcAft>
                <a:spcPts val="0"/>
              </a:spcAft>
              <a:buSzPts val="275"/>
              <a:buNone/>
            </a:pPr>
            <a:r>
              <a:rPr lang="es" sz="962">
                <a:solidFill>
                  <a:srgbClr val="000000"/>
                </a:solidFill>
                <a:highlight>
                  <a:srgbClr val="FFFFFF"/>
                </a:highlight>
              </a:rPr>
              <a:t>State: 1 - Check the empty cells ; 2 - Check uppercase or lowercase</a:t>
            </a:r>
            <a:endParaRPr sz="962">
              <a:solidFill>
                <a:srgbClr val="000000"/>
              </a:solidFill>
              <a:highlight>
                <a:srgbClr val="FFFFFF"/>
              </a:highlight>
            </a:endParaRPr>
          </a:p>
          <a:p>
            <a:pPr indent="0" lvl="0" marL="0" rtl="0" algn="l">
              <a:lnSpc>
                <a:spcPct val="125714"/>
              </a:lnSpc>
              <a:spcBef>
                <a:spcPts val="0"/>
              </a:spcBef>
              <a:spcAft>
                <a:spcPts val="0"/>
              </a:spcAft>
              <a:buSzPts val="275"/>
              <a:buNone/>
            </a:pPr>
            <a:r>
              <a:rPr lang="es" sz="962">
                <a:solidFill>
                  <a:srgbClr val="000000"/>
                </a:solidFill>
                <a:highlight>
                  <a:srgbClr val="FFFFFF"/>
                </a:highlight>
              </a:rPr>
              <a:t>Location: 1 - Check the empty cells ; 2 - Check uppercase or lowercase</a:t>
            </a:r>
            <a:endParaRPr sz="962">
              <a:solidFill>
                <a:srgbClr val="000000"/>
              </a:solidFill>
              <a:highlight>
                <a:srgbClr val="FFFFFF"/>
              </a:highlight>
            </a:endParaRPr>
          </a:p>
          <a:p>
            <a:pPr indent="0" lvl="0" marL="0" rtl="0" algn="l">
              <a:lnSpc>
                <a:spcPct val="125714"/>
              </a:lnSpc>
              <a:spcBef>
                <a:spcPts val="0"/>
              </a:spcBef>
              <a:spcAft>
                <a:spcPts val="0"/>
              </a:spcAft>
              <a:buSzPts val="275"/>
              <a:buNone/>
            </a:pPr>
            <a:r>
              <a:rPr lang="es" sz="962">
                <a:solidFill>
                  <a:srgbClr val="000000"/>
                </a:solidFill>
                <a:highlight>
                  <a:srgbClr val="FFFFFF"/>
                </a:highlight>
              </a:rPr>
              <a:t>Activity: 1 - Check the empty cells ; 2 - Check uppercase or lowercase</a:t>
            </a:r>
            <a:endParaRPr sz="962">
              <a:solidFill>
                <a:srgbClr val="000000"/>
              </a:solidFill>
              <a:highlight>
                <a:srgbClr val="FFFFFF"/>
              </a:highlight>
            </a:endParaRPr>
          </a:p>
          <a:p>
            <a:pPr indent="0" lvl="0" marL="0" rtl="0" algn="l">
              <a:lnSpc>
                <a:spcPct val="125714"/>
              </a:lnSpc>
              <a:spcBef>
                <a:spcPts val="0"/>
              </a:spcBef>
              <a:spcAft>
                <a:spcPts val="0"/>
              </a:spcAft>
              <a:buSzPts val="275"/>
              <a:buNone/>
            </a:pPr>
            <a:r>
              <a:rPr lang="es" sz="962">
                <a:solidFill>
                  <a:srgbClr val="000000"/>
                </a:solidFill>
                <a:highlight>
                  <a:srgbClr val="FFFFFF"/>
                </a:highlight>
              </a:rPr>
              <a:t>Name: clean names as well</a:t>
            </a:r>
            <a:endParaRPr sz="962">
              <a:solidFill>
                <a:srgbClr val="000000"/>
              </a:solidFill>
              <a:highlight>
                <a:srgbClr val="FFFFFF"/>
              </a:highlight>
            </a:endParaRPr>
          </a:p>
          <a:p>
            <a:pPr indent="0" lvl="0" marL="0" rtl="0" algn="l">
              <a:lnSpc>
                <a:spcPct val="125714"/>
              </a:lnSpc>
              <a:spcBef>
                <a:spcPts val="0"/>
              </a:spcBef>
              <a:spcAft>
                <a:spcPts val="0"/>
              </a:spcAft>
              <a:buSzPts val="275"/>
              <a:buNone/>
            </a:pPr>
            <a:r>
              <a:rPr lang="es" sz="962">
                <a:solidFill>
                  <a:srgbClr val="000000"/>
                </a:solidFill>
                <a:highlight>
                  <a:srgbClr val="FFFFFF"/>
                </a:highlight>
              </a:rPr>
              <a:t>Sex: 10 different uniques (clean)</a:t>
            </a:r>
            <a:endParaRPr sz="962">
              <a:solidFill>
                <a:srgbClr val="000000"/>
              </a:solidFill>
              <a:highlight>
                <a:srgbClr val="FFFFFF"/>
              </a:highlight>
            </a:endParaRPr>
          </a:p>
          <a:p>
            <a:pPr indent="0" lvl="0" marL="0" rtl="0" algn="l">
              <a:lnSpc>
                <a:spcPct val="125714"/>
              </a:lnSpc>
              <a:spcBef>
                <a:spcPts val="0"/>
              </a:spcBef>
              <a:spcAft>
                <a:spcPts val="0"/>
              </a:spcAft>
              <a:buSzPts val="275"/>
              <a:buNone/>
            </a:pPr>
            <a:r>
              <a:rPr lang="es" sz="962">
                <a:solidFill>
                  <a:srgbClr val="000000"/>
                </a:solidFill>
                <a:highlight>
                  <a:srgbClr val="FFFFFF"/>
                </a:highlight>
              </a:rPr>
              <a:t>Age: 1 - Check the empty cells ; 2 - Clean exclamation marks</a:t>
            </a:r>
            <a:endParaRPr sz="962">
              <a:solidFill>
                <a:srgbClr val="000000"/>
              </a:solidFill>
              <a:highlight>
                <a:srgbClr val="FFFFFF"/>
              </a:highlight>
            </a:endParaRPr>
          </a:p>
          <a:p>
            <a:pPr indent="0" lvl="0" marL="0" rtl="0" algn="l">
              <a:lnSpc>
                <a:spcPct val="125714"/>
              </a:lnSpc>
              <a:spcBef>
                <a:spcPts val="0"/>
              </a:spcBef>
              <a:spcAft>
                <a:spcPts val="0"/>
              </a:spcAft>
              <a:buSzPts val="275"/>
              <a:buNone/>
            </a:pPr>
            <a:r>
              <a:rPr lang="es" sz="962">
                <a:solidFill>
                  <a:srgbClr val="000000"/>
                </a:solidFill>
                <a:highlight>
                  <a:srgbClr val="FFFFFF"/>
                </a:highlight>
              </a:rPr>
              <a:t>Injury: ? check the emty cells</a:t>
            </a:r>
            <a:endParaRPr sz="962">
              <a:solidFill>
                <a:srgbClr val="000000"/>
              </a:solidFill>
              <a:highlight>
                <a:srgbClr val="FFFFFF"/>
              </a:highlight>
            </a:endParaRPr>
          </a:p>
          <a:p>
            <a:pPr indent="0" lvl="0" marL="0" rtl="0" algn="l">
              <a:lnSpc>
                <a:spcPct val="125714"/>
              </a:lnSpc>
              <a:spcBef>
                <a:spcPts val="0"/>
              </a:spcBef>
              <a:spcAft>
                <a:spcPts val="0"/>
              </a:spcAft>
              <a:buSzPts val="275"/>
              <a:buNone/>
            </a:pPr>
            <a:r>
              <a:rPr lang="es" sz="962">
                <a:solidFill>
                  <a:srgbClr val="000000"/>
                </a:solidFill>
                <a:highlight>
                  <a:srgbClr val="FFFFFF"/>
                </a:highlight>
              </a:rPr>
              <a:t>Fatal Y/N: clean other options except Yes/No/Unknown</a:t>
            </a:r>
            <a:endParaRPr sz="962">
              <a:solidFill>
                <a:srgbClr val="000000"/>
              </a:solidFill>
              <a:highlight>
                <a:srgbClr val="FFFFFF"/>
              </a:highlight>
            </a:endParaRPr>
          </a:p>
          <a:p>
            <a:pPr indent="0" lvl="0" marL="0" rtl="0" algn="l">
              <a:lnSpc>
                <a:spcPct val="125714"/>
              </a:lnSpc>
              <a:spcBef>
                <a:spcPts val="0"/>
              </a:spcBef>
              <a:spcAft>
                <a:spcPts val="0"/>
              </a:spcAft>
              <a:buSzPts val="275"/>
              <a:buNone/>
            </a:pPr>
            <a:r>
              <a:rPr lang="es" sz="962">
                <a:solidFill>
                  <a:srgbClr val="000000"/>
                </a:solidFill>
                <a:highlight>
                  <a:srgbClr val="FFFFFF"/>
                </a:highlight>
              </a:rPr>
              <a:t>Time:change the datatime from object &gt;&gt; to other datatype</a:t>
            </a:r>
            <a:endParaRPr sz="962">
              <a:solidFill>
                <a:srgbClr val="000000"/>
              </a:solidFill>
              <a:highlight>
                <a:srgbClr val="FFFFFF"/>
              </a:highlight>
            </a:endParaRPr>
          </a:p>
          <a:p>
            <a:pPr indent="0" lvl="0" marL="0" rtl="0" algn="l">
              <a:lnSpc>
                <a:spcPct val="125714"/>
              </a:lnSpc>
              <a:spcBef>
                <a:spcPts val="0"/>
              </a:spcBef>
              <a:spcAft>
                <a:spcPts val="0"/>
              </a:spcAft>
              <a:buSzPts val="275"/>
              <a:buNone/>
            </a:pPr>
            <a:r>
              <a:rPr lang="es" sz="962">
                <a:solidFill>
                  <a:srgbClr val="000000"/>
                </a:solidFill>
                <a:highlight>
                  <a:srgbClr val="FFFFFF"/>
                </a:highlight>
              </a:rPr>
              <a:t>Species: 1 - check the wrighting with spaces or without, uppercases etc.</a:t>
            </a:r>
            <a:endParaRPr sz="962">
              <a:solidFill>
                <a:srgbClr val="000000"/>
              </a:solidFill>
              <a:highlight>
                <a:srgbClr val="FFFFFF"/>
              </a:highlight>
            </a:endParaRPr>
          </a:p>
          <a:p>
            <a:pPr indent="0" lvl="0" marL="0" rtl="0" algn="l">
              <a:lnSpc>
                <a:spcPct val="125714"/>
              </a:lnSpc>
              <a:spcBef>
                <a:spcPts val="0"/>
              </a:spcBef>
              <a:spcAft>
                <a:spcPts val="0"/>
              </a:spcAft>
              <a:buSzPts val="275"/>
              <a:buNone/>
            </a:pPr>
            <a:r>
              <a:rPr lang="es" sz="962">
                <a:solidFill>
                  <a:srgbClr val="000000"/>
                </a:solidFill>
                <a:highlight>
                  <a:srgbClr val="FFFFFF"/>
                </a:highlight>
              </a:rPr>
              <a:t>Source:</a:t>
            </a:r>
            <a:endParaRPr sz="962">
              <a:solidFill>
                <a:srgbClr val="000000"/>
              </a:solidFill>
              <a:highlight>
                <a:srgbClr val="FFFFFF"/>
              </a:highlight>
            </a:endParaRPr>
          </a:p>
          <a:p>
            <a:pPr indent="0" lvl="0" marL="0" rtl="0" algn="l">
              <a:lnSpc>
                <a:spcPct val="125714"/>
              </a:lnSpc>
              <a:spcBef>
                <a:spcPts val="0"/>
              </a:spcBef>
              <a:spcAft>
                <a:spcPts val="0"/>
              </a:spcAft>
              <a:buSzPts val="275"/>
              <a:buNone/>
            </a:pPr>
            <a:r>
              <a:t/>
            </a:r>
            <a:endParaRPr sz="962">
              <a:solidFill>
                <a:srgbClr val="000000"/>
              </a:solidFill>
              <a:highlight>
                <a:srgbClr val="FFFFFF"/>
              </a:highlight>
            </a:endParaRPr>
          </a:p>
          <a:p>
            <a:pPr indent="0" lvl="0" marL="0" rtl="0" algn="l">
              <a:lnSpc>
                <a:spcPct val="125714"/>
              </a:lnSpc>
              <a:spcBef>
                <a:spcPts val="0"/>
              </a:spcBef>
              <a:spcAft>
                <a:spcPts val="0"/>
              </a:spcAft>
              <a:buSzPts val="275"/>
              <a:buNone/>
            </a:pPr>
            <a:r>
              <a:t/>
            </a:r>
            <a:endParaRPr sz="962">
              <a:solidFill>
                <a:srgbClr val="000000"/>
              </a:solidFill>
              <a:highlight>
                <a:srgbClr val="FFFFFF"/>
              </a:highlight>
            </a:endParaRPr>
          </a:p>
          <a:p>
            <a:pPr indent="0" lvl="0" marL="0" rtl="0" algn="l">
              <a:lnSpc>
                <a:spcPct val="125714"/>
              </a:lnSpc>
              <a:spcBef>
                <a:spcPts val="0"/>
              </a:spcBef>
              <a:spcAft>
                <a:spcPts val="0"/>
              </a:spcAft>
              <a:buSzPts val="275"/>
              <a:buNone/>
            </a:pPr>
            <a:r>
              <a:rPr lang="es" sz="962">
                <a:solidFill>
                  <a:srgbClr val="000000"/>
                </a:solidFill>
                <a:highlight>
                  <a:srgbClr val="FFFFFF"/>
                </a:highlight>
              </a:rPr>
              <a:t>Check the empty cells</a:t>
            </a:r>
            <a:endParaRPr sz="962">
              <a:solidFill>
                <a:srgbClr val="000000"/>
              </a:solidFill>
              <a:highlight>
                <a:srgbClr val="FFFFFF"/>
              </a:highlight>
            </a:endParaRPr>
          </a:p>
          <a:p>
            <a:pPr indent="0" lvl="0" marL="0" rtl="0" algn="l">
              <a:lnSpc>
                <a:spcPct val="125714"/>
              </a:lnSpc>
              <a:spcBef>
                <a:spcPts val="0"/>
              </a:spcBef>
              <a:spcAft>
                <a:spcPts val="0"/>
              </a:spcAft>
              <a:buSzPts val="275"/>
              <a:buNone/>
            </a:pPr>
            <a:r>
              <a:rPr lang="es" sz="962">
                <a:solidFill>
                  <a:srgbClr val="000000"/>
                </a:solidFill>
                <a:highlight>
                  <a:srgbClr val="FFFFFF"/>
                </a:highlight>
              </a:rPr>
              <a:t>Check uppercase or lowercase</a:t>
            </a:r>
            <a:endParaRPr sz="962">
              <a:solidFill>
                <a:srgbClr val="000000"/>
              </a:solidFill>
              <a:highlight>
                <a:srgbClr val="FFFFFF"/>
              </a:highlight>
            </a:endParaRPr>
          </a:p>
          <a:p>
            <a:pPr indent="0" lvl="0" marL="0" rtl="0" algn="l">
              <a:lnSpc>
                <a:spcPct val="125714"/>
              </a:lnSpc>
              <a:spcBef>
                <a:spcPts val="0"/>
              </a:spcBef>
              <a:spcAft>
                <a:spcPts val="0"/>
              </a:spcAft>
              <a:buSzPts val="275"/>
              <a:buNone/>
            </a:pPr>
            <a:r>
              <a:rPr lang="es" sz="962">
                <a:solidFill>
                  <a:srgbClr val="000000"/>
                </a:solidFill>
                <a:highlight>
                  <a:srgbClr val="FFFFFF"/>
                </a:highlight>
              </a:rPr>
              <a:t>Clean duplicates</a:t>
            </a:r>
            <a:endParaRPr sz="962">
              <a:solidFill>
                <a:srgbClr val="000000"/>
              </a:solidFill>
              <a:highlight>
                <a:srgbClr val="FFFFFF"/>
              </a:highlight>
            </a:endParaRPr>
          </a:p>
          <a:p>
            <a:pPr indent="0" lvl="0" marL="0" rtl="0" algn="l">
              <a:lnSpc>
                <a:spcPct val="125714"/>
              </a:lnSpc>
              <a:spcBef>
                <a:spcPts val="0"/>
              </a:spcBef>
              <a:spcAft>
                <a:spcPts val="0"/>
              </a:spcAft>
              <a:buSzPts val="275"/>
              <a:buNone/>
            </a:pPr>
            <a:r>
              <a:t/>
            </a:r>
            <a:endParaRPr sz="962">
              <a:solidFill>
                <a:srgbClr val="000000"/>
              </a:solidFill>
              <a:highlight>
                <a:srgbClr val="FFFFFF"/>
              </a:highlight>
            </a:endParaRPr>
          </a:p>
          <a:p>
            <a:pPr indent="0" lvl="0" marL="0" rtl="0" algn="l">
              <a:lnSpc>
                <a:spcPct val="125714"/>
              </a:lnSpc>
              <a:spcBef>
                <a:spcPts val="0"/>
              </a:spcBef>
              <a:spcAft>
                <a:spcPts val="0"/>
              </a:spcAft>
              <a:buSzPts val="275"/>
              <a:buNone/>
            </a:pPr>
            <a:r>
              <a:rPr lang="es" sz="962">
                <a:solidFill>
                  <a:srgbClr val="000000"/>
                </a:solidFill>
                <a:highlight>
                  <a:srgbClr val="FFFFFF"/>
                </a:highlight>
              </a:rPr>
              <a:t>Conclusion: should be summarized &amp; formalized and clean; manage the errors cused by "?" or other marks</a:t>
            </a:r>
            <a:endParaRPr sz="962">
              <a:solidFill>
                <a:srgbClr val="000000"/>
              </a:solidFill>
              <a:highlight>
                <a:srgbClr val="FFFFFF"/>
              </a:highlight>
            </a:endParaRPr>
          </a:p>
          <a:p>
            <a:pPr indent="0" lvl="0" marL="0" rtl="0" algn="l">
              <a:lnSpc>
                <a:spcPct val="105000"/>
              </a:lnSpc>
              <a:spcBef>
                <a:spcPts val="0"/>
              </a:spcBef>
              <a:spcAft>
                <a:spcPts val="1200"/>
              </a:spcAft>
              <a:buSzPts val="275"/>
              <a:buNone/>
            </a:pPr>
            <a:r>
              <a:t/>
            </a:r>
            <a:endParaRPr sz="325"/>
          </a:p>
        </p:txBody>
      </p:sp>
      <p:sp>
        <p:nvSpPr>
          <p:cNvPr id="220" name="Google Shape;220;p2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221" name="Google Shape;221;p28"/>
          <p:cNvSpPr txBox="1"/>
          <p:nvPr>
            <p:ph idx="1" type="body"/>
          </p:nvPr>
        </p:nvSpPr>
        <p:spPr>
          <a:xfrm>
            <a:off x="5147725" y="2078875"/>
            <a:ext cx="3657600" cy="2261100"/>
          </a:xfrm>
          <a:prstGeom prst="rect">
            <a:avLst/>
          </a:prstGeom>
        </p:spPr>
        <p:txBody>
          <a:bodyPr anchorCtr="0" anchor="t" bIns="91425" lIns="91425" spcFirstLastPara="1" rIns="91425" wrap="square" tIns="91425">
            <a:noAutofit/>
          </a:bodyPr>
          <a:lstStyle/>
          <a:p>
            <a:pPr indent="0" lvl="0" marL="0" rtl="0" algn="l">
              <a:lnSpc>
                <a:spcPct val="125714"/>
              </a:lnSpc>
              <a:spcBef>
                <a:spcPts val="0"/>
              </a:spcBef>
              <a:spcAft>
                <a:spcPts val="0"/>
              </a:spcAft>
              <a:buSzPts val="275"/>
              <a:buNone/>
            </a:pPr>
            <a:r>
              <a:rPr lang="es" sz="962">
                <a:solidFill>
                  <a:srgbClr val="000000"/>
                </a:solidFill>
                <a:highlight>
                  <a:srgbClr val="FFFFFF"/>
                </a:highlight>
              </a:rPr>
              <a:t>Source:</a:t>
            </a:r>
            <a:endParaRPr sz="962">
              <a:solidFill>
                <a:srgbClr val="000000"/>
              </a:solidFill>
              <a:highlight>
                <a:srgbClr val="FFFFFF"/>
              </a:highlight>
            </a:endParaRPr>
          </a:p>
          <a:p>
            <a:pPr indent="0" lvl="0" marL="0" rtl="0" algn="l">
              <a:lnSpc>
                <a:spcPct val="125714"/>
              </a:lnSpc>
              <a:spcBef>
                <a:spcPts val="0"/>
              </a:spcBef>
              <a:spcAft>
                <a:spcPts val="0"/>
              </a:spcAft>
              <a:buSzPts val="275"/>
              <a:buNone/>
            </a:pPr>
            <a:r>
              <a:rPr lang="es" sz="962">
                <a:solidFill>
                  <a:srgbClr val="000000"/>
                </a:solidFill>
                <a:highlight>
                  <a:srgbClr val="FFFFFF"/>
                </a:highlight>
              </a:rPr>
              <a:t>Check the empty cells</a:t>
            </a:r>
            <a:endParaRPr sz="962">
              <a:solidFill>
                <a:srgbClr val="000000"/>
              </a:solidFill>
              <a:highlight>
                <a:srgbClr val="FFFFFF"/>
              </a:highlight>
            </a:endParaRPr>
          </a:p>
          <a:p>
            <a:pPr indent="0" lvl="0" marL="0" rtl="0" algn="l">
              <a:lnSpc>
                <a:spcPct val="125714"/>
              </a:lnSpc>
              <a:spcBef>
                <a:spcPts val="0"/>
              </a:spcBef>
              <a:spcAft>
                <a:spcPts val="0"/>
              </a:spcAft>
              <a:buSzPts val="275"/>
              <a:buNone/>
            </a:pPr>
            <a:r>
              <a:rPr lang="es" sz="962">
                <a:solidFill>
                  <a:srgbClr val="000000"/>
                </a:solidFill>
                <a:highlight>
                  <a:srgbClr val="FFFFFF"/>
                </a:highlight>
              </a:rPr>
              <a:t>Check uppercase or lowercase</a:t>
            </a:r>
            <a:endParaRPr sz="962">
              <a:solidFill>
                <a:srgbClr val="000000"/>
              </a:solidFill>
              <a:highlight>
                <a:srgbClr val="FFFFFF"/>
              </a:highlight>
            </a:endParaRPr>
          </a:p>
          <a:p>
            <a:pPr indent="0" lvl="0" marL="0" rtl="0" algn="l">
              <a:lnSpc>
                <a:spcPct val="125714"/>
              </a:lnSpc>
              <a:spcBef>
                <a:spcPts val="0"/>
              </a:spcBef>
              <a:spcAft>
                <a:spcPts val="0"/>
              </a:spcAft>
              <a:buSzPts val="275"/>
              <a:buNone/>
            </a:pPr>
            <a:r>
              <a:rPr lang="es" sz="962">
                <a:solidFill>
                  <a:srgbClr val="000000"/>
                </a:solidFill>
                <a:highlight>
                  <a:srgbClr val="FFFFFF"/>
                </a:highlight>
              </a:rPr>
              <a:t>Clean duplicates</a:t>
            </a:r>
            <a:endParaRPr sz="962">
              <a:solidFill>
                <a:srgbClr val="000000"/>
              </a:solidFill>
              <a:highlight>
                <a:srgbClr val="FFFFFF"/>
              </a:highlight>
            </a:endParaRPr>
          </a:p>
          <a:p>
            <a:pPr indent="0" lvl="0" marL="0" rtl="0" algn="l">
              <a:lnSpc>
                <a:spcPct val="125714"/>
              </a:lnSpc>
              <a:spcBef>
                <a:spcPts val="0"/>
              </a:spcBef>
              <a:spcAft>
                <a:spcPts val="0"/>
              </a:spcAft>
              <a:buSzPts val="275"/>
              <a:buNone/>
            </a:pPr>
            <a:r>
              <a:t/>
            </a:r>
            <a:endParaRPr sz="962">
              <a:solidFill>
                <a:srgbClr val="000000"/>
              </a:solidFill>
              <a:highlight>
                <a:srgbClr val="FFFFFF"/>
              </a:highlight>
            </a:endParaRPr>
          </a:p>
          <a:p>
            <a:pPr indent="0" lvl="0" marL="0" rtl="0" algn="l">
              <a:lnSpc>
                <a:spcPct val="125714"/>
              </a:lnSpc>
              <a:spcBef>
                <a:spcPts val="0"/>
              </a:spcBef>
              <a:spcAft>
                <a:spcPts val="0"/>
              </a:spcAft>
              <a:buSzPts val="275"/>
              <a:buNone/>
            </a:pPr>
            <a:r>
              <a:rPr lang="es" sz="962">
                <a:solidFill>
                  <a:srgbClr val="000000"/>
                </a:solidFill>
                <a:highlight>
                  <a:srgbClr val="FFFFFF"/>
                </a:highlight>
              </a:rPr>
              <a:t>Conclusion: should be summarized &amp; formalized and clean; manage the errors cused by "?" or other marks</a:t>
            </a:r>
            <a:endParaRPr sz="962">
              <a:solidFill>
                <a:srgbClr val="000000"/>
              </a:solidFill>
              <a:highlight>
                <a:srgbClr val="FFFFFF"/>
              </a:highlight>
            </a:endParaRPr>
          </a:p>
          <a:p>
            <a:pPr indent="0" lvl="0" marL="0" rtl="0" algn="l">
              <a:lnSpc>
                <a:spcPct val="105000"/>
              </a:lnSpc>
              <a:spcBef>
                <a:spcPts val="0"/>
              </a:spcBef>
              <a:spcAft>
                <a:spcPts val="1200"/>
              </a:spcAft>
              <a:buSzPts val="275"/>
              <a:buNone/>
            </a:pPr>
            <a:r>
              <a:t/>
            </a:r>
            <a:endParaRPr sz="325"/>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